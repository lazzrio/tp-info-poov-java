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Présentation (10 s). FastBite est notre application de livraison de repas, construite du TP2 au TP5. Ce TP6 lui donne une interface graphique Swing : trois fenêtres, des boutons avec listeners, et on réutilise les exceptions, le fichier texte et la sérialisation du TP5.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Sommaire (10 s). Quatre questions puis un bilan. Nous sommes repartis du code du TP5 sans le réécrire : l'interface appelle les mêmes méthodes que la console appelait.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Q1 (40 s). La maquette a été générée par IA à partir de notre thème. Elle montre trois fenêtres : l'accueil avec une carte par restaurant et notre livreur, le menu avec le panier, et la commande avec le paiement, le suivi de la livraison et les notes. C'est le parcours du client de notre diagramme de cas d'utilisation du TP2. On a déjà noté quel composant Swing sera utilisé pour chaque zone, ce qui a guidé le code.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Q2 (40 s). Le storyboard montre comment on passe d'une page à l'autre. Les flèches bleues sont les clics qui changent de page. En rouge, les cas d'erreur : l'exception est attrapée, on affiche une boîte et on reste sur la page. En vert, les fichiers. Une seule fenêtre est visible à la fois, et toutes partagent le même objet Donnees.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Q3, code (50 s). Chaque page est une classe qui hérite de JFrame. Dans le constructeur on crée les composants, on les range avec des layouts : BorderLayout pour les grandes zones, GridLayout pour la grille de cartes. Pour l'apparence, notre classe Style hérite de JButton et de JPanel et redéfinit paintComponent : c'est nous qui dessinons les boutons arrondis et les cartes. Puis on abonne la fenêtre aux clics avec addActionListener. Le main crée les données et affiche l'accueil dans le fil de Swing avec invokeLater.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Q3, résultat (40 s). Les trois fenêtres obtenues suivent la maquette. Les cartes sont créées à partir des vrais objets Restaurant et Plat du restaurant, ce n'est pas du texte en dur. Nous avons ajouté Yoshi Sushi dans les données et sa carte est apparue toute seule. Couleurs et composants dessinés sont regroupés dans la classe Style.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Q4, listeners (50 s). Quand on clique, Swing appelle actionPerformed. getSource nous dit quel bouton a été cliqué. Chaque carte a son bouton Ajouter : sa position dans la liste des boutons dit quel plat ajouter, on appelle ajouterPlat sur la commande, puis on rafraîchit la liste du panier et le total. À droite le test : deux clics, le total passe à 14,5 euros. Sur la page 3 nous avons utilisé l'autre écriture, une classe anonyme par bouton.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Q4, exceptions (50 s). Les méthodes du TP5 lèvent toujours leurs exceptions. Dans l'interface, c'est le listener qui fait le try/catch et qui affiche le message de l'exception dans une boîte de dialogue. Quatre tests à droite : valider un panier vide, donner une note de 7, confier une commande au livreur déjà en course, payer deux fois. Un nouveau cas apparaît avec l'interface : l'utilisateur peut taper du texte dans un champ numérique, on attrape NumberFormatException.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Q4, fichiers (50 s). Les boutons appellent directement les méthodes du TP5 : sauvegarderMenu et chargerMenu pour le fichier texte, sauvegarderRestaurants et chargerRestaurants pour la sérialisation. Test de la sérialisation : on sauvegarde, on vide la liste, on recharge, les trois restaurants reviennent avec leurs menus et la note. Deux cas d'erreur : un fichier texte avec un prix non numérique, et un fichier .ser corrompu. Ce dernier test nous a fait trouver un bug du TP5 : le fichier restait ouvert après l'erreur, nous l'avons corrigé.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Bilan (30 s). Les quatre questions sont traitées et vérifiées par un programme de test qui simule les clics. Ce que nous retenons : séparer l'interface du métier nous a permis de réutiliser le TP5 sans le modifier. Les tests ont même révélé un bug du TP5. Limites : un seul client et un seul livreur. Sources : le cours et le sujet de M. Segado, la documentation Oracle. L'IA Claude a généré la maquette, le storyboard et le code ; nous devons savoir expliquer chaque partie.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60520"/>
            <a:ext cx="12191695" cy="73152"/>
          </a:xfrm>
          <a:prstGeom prst="rect">
            <a:avLst/>
          </a:prstGeom>
          <a:solidFill>
            <a:srgbClr val="E85D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371600"/>
            <a:ext cx="10515600" cy="731520"/>
          </a:xfrm>
          <a:prstGeom prst="rect">
            <a:avLst/>
          </a:prstGeom>
          <a:noFill/>
        </p:spPr>
        <p:txBody>
          <a:bodyPr wrap="square" anchor="t" lIns="45720" rIns="45720" tIns="27432" bIns="27432">
            <a:spAutoFit/>
          </a:bodyPr>
          <a:lstStyle/>
          <a:p>
            <a:pPr>
              <a:spcAft>
                <a:spcPts val="500"/>
              </a:spcAft>
            </a:pPr>
            <a:r>
              <a:rPr sz="5400" b="1">
                <a:solidFill>
                  <a:srgbClr val="FFFFFF"/>
                </a:solidFill>
                <a:latin typeface="Calibri"/>
              </a:rPr>
              <a:t>FastBite</a:t>
            </a:r>
          </a:p>
        </p:txBody>
      </p:sp>
      <p:sp>
        <p:nvSpPr>
          <p:cNvPr id="5" name="TextBox 4"/>
          <p:cNvSpPr txBox="1"/>
          <p:nvPr/>
        </p:nvSpPr>
        <p:spPr>
          <a:xfrm>
            <a:off x="822960" y="2331720"/>
            <a:ext cx="10515600" cy="548640"/>
          </a:xfrm>
          <a:prstGeom prst="rect">
            <a:avLst/>
          </a:prstGeom>
          <a:noFill/>
        </p:spPr>
        <p:txBody>
          <a:bodyPr wrap="square" anchor="t" lIns="45720" rIns="45720" tIns="27432" bIns="27432">
            <a:spAutoFit/>
          </a:bodyPr>
          <a:lstStyle/>
          <a:p>
            <a:pPr>
              <a:spcAft>
                <a:spcPts val="500"/>
              </a:spcAft>
            </a:pPr>
            <a:r>
              <a:rPr sz="2000" b="0">
                <a:solidFill>
                  <a:srgbClr val="C9D6EA"/>
                </a:solidFill>
                <a:latin typeface="Calibri"/>
              </a:rPr>
              <a:t>(notre application de livraison de repas, type Deliveroo)</a:t>
            </a:r>
          </a:p>
        </p:txBody>
      </p:sp>
      <p:sp>
        <p:nvSpPr>
          <p:cNvPr id="6" name="TextBox 5"/>
          <p:cNvSpPr txBox="1"/>
          <p:nvPr/>
        </p:nvSpPr>
        <p:spPr>
          <a:xfrm>
            <a:off x="822960" y="3063240"/>
            <a:ext cx="10789920" cy="914400"/>
          </a:xfrm>
          <a:prstGeom prst="rect">
            <a:avLst/>
          </a:prstGeom>
          <a:noFill/>
        </p:spPr>
        <p:txBody>
          <a:bodyPr wrap="square" anchor="t" lIns="45720" rIns="45720" tIns="27432" bIns="27432">
            <a:spAutoFit/>
          </a:bodyPr>
          <a:lstStyle/>
          <a:p>
            <a:pPr>
              <a:spcAft>
                <a:spcPts val="500"/>
              </a:spcAft>
            </a:pPr>
            <a:r>
              <a:rPr sz="3000" b="1">
                <a:solidFill>
                  <a:srgbClr val="E85D04"/>
                </a:solidFill>
                <a:latin typeface="Calibri"/>
              </a:rPr>
              <a:t>TP6 — Interface graphique Swing et programmation événementielle</a:t>
            </a:r>
          </a:p>
        </p:txBody>
      </p:sp>
      <p:sp>
        <p:nvSpPr>
          <p:cNvPr id="7" name="TextBox 6"/>
          <p:cNvSpPr txBox="1"/>
          <p:nvPr/>
        </p:nvSpPr>
        <p:spPr>
          <a:xfrm>
            <a:off x="822960" y="4480560"/>
            <a:ext cx="10515600" cy="457200"/>
          </a:xfrm>
          <a:prstGeom prst="rect">
            <a:avLst/>
          </a:prstGeom>
          <a:noFill/>
        </p:spPr>
        <p:txBody>
          <a:bodyPr wrap="square" anchor="t" lIns="45720" rIns="45720" tIns="27432" bIns="27432">
            <a:spAutoFit/>
          </a:bodyPr>
          <a:lstStyle/>
          <a:p>
            <a:pPr>
              <a:spcAft>
                <a:spcPts val="500"/>
              </a:spcAft>
            </a:pPr>
            <a:r>
              <a:rPr sz="2200" b="1">
                <a:solidFill>
                  <a:srgbClr val="FFFFFF"/>
                </a:solidFill>
                <a:latin typeface="Calibri"/>
              </a:rPr>
              <a:t>[Prénom NOM 1] · [Prénom NOM 2] · [Prénom NOM 3]</a:t>
            </a:r>
          </a:p>
        </p:txBody>
      </p:sp>
      <p:sp>
        <p:nvSpPr>
          <p:cNvPr id="8" name="TextBox 7"/>
          <p:cNvSpPr txBox="1"/>
          <p:nvPr/>
        </p:nvSpPr>
        <p:spPr>
          <a:xfrm>
            <a:off x="822960" y="5029200"/>
            <a:ext cx="10515600" cy="914400"/>
          </a:xfrm>
          <a:prstGeom prst="rect">
            <a:avLst/>
          </a:prstGeom>
          <a:noFill/>
        </p:spPr>
        <p:txBody>
          <a:bodyPr wrap="square" anchor="t" lIns="45720" rIns="45720" tIns="27432" bIns="27432">
            <a:spAutoFit/>
          </a:bodyPr>
          <a:lstStyle/>
          <a:p>
            <a:pPr>
              <a:spcAft>
                <a:spcPts val="500"/>
              </a:spcAft>
            </a:pPr>
            <a:r>
              <a:rPr sz="1600" b="0">
                <a:solidFill>
                  <a:srgbClr val="C9D6EA"/>
                </a:solidFill>
                <a:latin typeface="Calibri"/>
              </a:rPr>
              <a:t>Programmation orientée objet en Java — ECE Paris, Ing2</a:t>
            </a:r>
          </a:p>
          <a:p>
            <a:pPr>
              <a:spcAft>
                <a:spcPts val="500"/>
              </a:spcAft>
            </a:pPr>
            <a:r>
              <a:rPr sz="1600" b="0">
                <a:solidFill>
                  <a:srgbClr val="C9D6EA"/>
                </a:solidFill>
                <a:latin typeface="Calibri"/>
              </a:rPr>
              <a:t>Enseignant : J.-P. Segado · octobre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85D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9692640" cy="685800"/>
          </a:xfrm>
          <a:prstGeom prst="rect">
            <a:avLst/>
          </a:prstGeom>
          <a:noFill/>
        </p:spPr>
        <p:txBody>
          <a:bodyPr wrap="square" anchor="ctr" lIns="45720" rIns="45720" tIns="27432" bIns="27432">
            <a:spAutoFit/>
          </a:bodyPr>
          <a:lstStyle/>
          <a:p>
            <a:pPr>
              <a:spcAft>
                <a:spcPts val="500"/>
              </a:spcAft>
            </a:pPr>
            <a:r>
              <a:rPr sz="2700" b="1">
                <a:solidFill>
                  <a:srgbClr val="FFFFFF"/>
                </a:solidFill>
                <a:latin typeface="Calibri"/>
              </a:rPr>
              <a:t>Sommaire</a:t>
            </a:r>
          </a:p>
        </p:txBody>
      </p:sp>
      <p:sp>
        <p:nvSpPr>
          <p:cNvPr id="5" name="TextBox 4"/>
          <p:cNvSpPr txBox="1"/>
          <p:nvPr/>
        </p:nvSpPr>
        <p:spPr>
          <a:xfrm>
            <a:off x="9692640" y="109728"/>
            <a:ext cx="2194560" cy="685800"/>
          </a:xfrm>
          <a:prstGeom prst="rect">
            <a:avLst/>
          </a:prstGeom>
          <a:noFill/>
        </p:spPr>
        <p:txBody>
          <a:bodyPr wrap="square" anchor="ctr" lIns="45720" rIns="45720" tIns="27432" bIns="27432">
            <a:spAutoFit/>
          </a:bodyPr>
          <a:lstStyle/>
          <a:p>
            <a:pPr algn="r">
              <a:spcAft>
                <a:spcPts val="500"/>
              </a:spcAft>
            </a:pPr>
            <a:r>
              <a:rPr sz="1400" b="0">
                <a:solidFill>
                  <a:srgbClr val="C9D6EA"/>
                </a:solidFill>
                <a:latin typeface="Calibri"/>
              </a:rPr>
              <a:t>FastBite · TP6</a:t>
            </a:r>
          </a:p>
        </p:txBody>
      </p:sp>
      <p:sp>
        <p:nvSpPr>
          <p:cNvPr id="6" name="TextBox 5"/>
          <p:cNvSpPr txBox="1"/>
          <p:nvPr/>
        </p:nvSpPr>
        <p:spPr>
          <a:xfrm>
            <a:off x="411480" y="6510528"/>
            <a:ext cx="8229600" cy="274320"/>
          </a:xfrm>
          <a:prstGeom prst="rect">
            <a:avLst/>
          </a:prstGeom>
          <a:noFill/>
        </p:spPr>
        <p:txBody>
          <a:bodyPr wrap="square" anchor="t" lIns="45720" rIns="45720" tIns="27432" bIns="27432">
            <a:spAutoFit/>
          </a:bodyPr>
          <a:lstStyle/>
          <a:p>
            <a:pPr>
              <a:spcAft>
                <a:spcPts val="500"/>
              </a:spcAft>
            </a:pPr>
            <a:r>
              <a:rPr sz="1000" b="0">
                <a:solidFill>
                  <a:srgbClr val="555B66"/>
                </a:solidFill>
                <a:latin typeface="Calibri"/>
              </a:rPr>
              <a:t>POO Java — Swing · Listeners · Exceptions · Fichiers</a:t>
            </a:r>
          </a:p>
        </p:txBody>
      </p:sp>
      <p:sp>
        <p:nvSpPr>
          <p:cNvPr id="7" name="TextBox 6"/>
          <p:cNvSpPr txBox="1"/>
          <p:nvPr/>
        </p:nvSpPr>
        <p:spPr>
          <a:xfrm>
            <a:off x="10881360" y="6510528"/>
            <a:ext cx="914400" cy="274320"/>
          </a:xfrm>
          <a:prstGeom prst="rect">
            <a:avLst/>
          </a:prstGeom>
          <a:noFill/>
        </p:spPr>
        <p:txBody>
          <a:bodyPr wrap="square" anchor="t" lIns="45720" rIns="45720" tIns="27432" bIns="27432">
            <a:spAutoFit/>
          </a:bodyPr>
          <a:lstStyle/>
          <a:p>
            <a:pPr algn="r">
              <a:spcAft>
                <a:spcPts val="500"/>
              </a:spcAft>
            </a:pPr>
            <a:r>
              <a:rPr sz="1100" b="1">
                <a:solidFill>
                  <a:srgbClr val="555B66"/>
                </a:solidFill>
                <a:latin typeface="Calibri"/>
              </a:rPr>
              <a:t>2</a:t>
            </a:r>
          </a:p>
        </p:txBody>
      </p:sp>
      <p:sp>
        <p:nvSpPr>
          <p:cNvPr id="8" name="Oval 7"/>
          <p:cNvSpPr/>
          <p:nvPr/>
        </p:nvSpPr>
        <p:spPr>
          <a:xfrm>
            <a:off x="822960" y="1234440"/>
            <a:ext cx="640080" cy="640080"/>
          </a:xfrm>
          <a:prstGeom prst="ellipse">
            <a:avLst/>
          </a:prstGeom>
          <a:solidFill>
            <a:srgbClr val="E85D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FFFFFF"/>
                </a:solidFill>
              </a:rPr>
              <a:t>1</a:t>
            </a:r>
          </a:p>
        </p:txBody>
      </p:sp>
      <p:sp>
        <p:nvSpPr>
          <p:cNvPr id="9" name="TextBox 8"/>
          <p:cNvSpPr txBox="1"/>
          <p:nvPr/>
        </p:nvSpPr>
        <p:spPr>
          <a:xfrm>
            <a:off x="1737360" y="1197864"/>
            <a:ext cx="9144000" cy="457200"/>
          </a:xfrm>
          <a:prstGeom prst="rect">
            <a:avLst/>
          </a:prstGeom>
          <a:noFill/>
        </p:spPr>
        <p:txBody>
          <a:bodyPr wrap="square" anchor="t" lIns="45720" rIns="45720" tIns="27432" bIns="27432">
            <a:spAutoFit/>
          </a:bodyPr>
          <a:lstStyle/>
          <a:p>
            <a:pPr>
              <a:spcAft>
                <a:spcPts val="500"/>
              </a:spcAft>
            </a:pPr>
            <a:r>
              <a:rPr sz="2400" b="1">
                <a:solidFill>
                  <a:srgbClr val="1F3A5F"/>
                </a:solidFill>
                <a:latin typeface="Calibri"/>
              </a:rPr>
              <a:t>Q1 — Maquette (wireframes)</a:t>
            </a:r>
          </a:p>
        </p:txBody>
      </p:sp>
      <p:sp>
        <p:nvSpPr>
          <p:cNvPr id="10" name="TextBox 9"/>
          <p:cNvSpPr txBox="1"/>
          <p:nvPr/>
        </p:nvSpPr>
        <p:spPr>
          <a:xfrm>
            <a:off x="1737360" y="1581912"/>
            <a:ext cx="9144000" cy="365760"/>
          </a:xfrm>
          <a:prstGeom prst="rect">
            <a:avLst/>
          </a:prstGeom>
          <a:noFill/>
        </p:spPr>
        <p:txBody>
          <a:bodyPr wrap="square" anchor="t" lIns="45720" rIns="45720" tIns="27432" bIns="27432">
            <a:spAutoFit/>
          </a:bodyPr>
          <a:lstStyle/>
          <a:p>
            <a:pPr>
              <a:spcAft>
                <a:spcPts val="500"/>
              </a:spcAft>
            </a:pPr>
            <a:r>
              <a:rPr sz="1500" b="0">
                <a:solidFill>
                  <a:srgbClr val="555B66"/>
                </a:solidFill>
                <a:latin typeface="Calibri"/>
              </a:rPr>
              <a:t>les 3 fenêtres dessinées avant de coder (1 slide)</a:t>
            </a:r>
          </a:p>
        </p:txBody>
      </p:sp>
      <p:sp>
        <p:nvSpPr>
          <p:cNvPr id="11" name="Oval 10"/>
          <p:cNvSpPr/>
          <p:nvPr/>
        </p:nvSpPr>
        <p:spPr>
          <a:xfrm>
            <a:off x="822960" y="2130552"/>
            <a:ext cx="640080" cy="640080"/>
          </a:xfrm>
          <a:prstGeom prst="ellipse">
            <a:avLst/>
          </a:prstGeom>
          <a:solidFill>
            <a:srgbClr val="E85D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FFFFFF"/>
                </a:solidFill>
              </a:rPr>
              <a:t>2</a:t>
            </a:r>
          </a:p>
        </p:txBody>
      </p:sp>
      <p:sp>
        <p:nvSpPr>
          <p:cNvPr id="12" name="TextBox 11"/>
          <p:cNvSpPr txBox="1"/>
          <p:nvPr/>
        </p:nvSpPr>
        <p:spPr>
          <a:xfrm>
            <a:off x="1737360" y="2093976"/>
            <a:ext cx="9144000" cy="457200"/>
          </a:xfrm>
          <a:prstGeom prst="rect">
            <a:avLst/>
          </a:prstGeom>
          <a:noFill/>
        </p:spPr>
        <p:txBody>
          <a:bodyPr wrap="square" anchor="t" lIns="45720" rIns="45720" tIns="27432" bIns="27432">
            <a:spAutoFit/>
          </a:bodyPr>
          <a:lstStyle/>
          <a:p>
            <a:pPr>
              <a:spcAft>
                <a:spcPts val="500"/>
              </a:spcAft>
            </a:pPr>
            <a:r>
              <a:rPr sz="2400" b="1">
                <a:solidFill>
                  <a:srgbClr val="1F3A5F"/>
                </a:solidFill>
                <a:latin typeface="Calibri"/>
              </a:rPr>
              <a:t>Q2 — Storyboard</a:t>
            </a:r>
          </a:p>
        </p:txBody>
      </p:sp>
      <p:sp>
        <p:nvSpPr>
          <p:cNvPr id="13" name="TextBox 12"/>
          <p:cNvSpPr txBox="1"/>
          <p:nvPr/>
        </p:nvSpPr>
        <p:spPr>
          <a:xfrm>
            <a:off x="1737360" y="2478024"/>
            <a:ext cx="9144000" cy="365760"/>
          </a:xfrm>
          <a:prstGeom prst="rect">
            <a:avLst/>
          </a:prstGeom>
          <a:noFill/>
        </p:spPr>
        <p:txBody>
          <a:bodyPr wrap="square" anchor="t" lIns="45720" rIns="45720" tIns="27432" bIns="27432">
            <a:spAutoFit/>
          </a:bodyPr>
          <a:lstStyle/>
          <a:p>
            <a:pPr>
              <a:spcAft>
                <a:spcPts val="500"/>
              </a:spcAft>
            </a:pPr>
            <a:r>
              <a:rPr sz="1500" b="0">
                <a:solidFill>
                  <a:srgbClr val="555B66"/>
                </a:solidFill>
                <a:latin typeface="Calibri"/>
              </a:rPr>
              <a:t>la navigation entre les pages, les erreurs, les fichiers (1 slide)</a:t>
            </a:r>
          </a:p>
        </p:txBody>
      </p:sp>
      <p:sp>
        <p:nvSpPr>
          <p:cNvPr id="14" name="Oval 13"/>
          <p:cNvSpPr/>
          <p:nvPr/>
        </p:nvSpPr>
        <p:spPr>
          <a:xfrm>
            <a:off x="822960" y="3026664"/>
            <a:ext cx="640080" cy="640080"/>
          </a:xfrm>
          <a:prstGeom prst="ellipse">
            <a:avLst/>
          </a:prstGeom>
          <a:solidFill>
            <a:srgbClr val="E85D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FFFFFF"/>
                </a:solidFill>
              </a:rPr>
              <a:t>3</a:t>
            </a:r>
          </a:p>
        </p:txBody>
      </p:sp>
      <p:sp>
        <p:nvSpPr>
          <p:cNvPr id="15" name="TextBox 14"/>
          <p:cNvSpPr txBox="1"/>
          <p:nvPr/>
        </p:nvSpPr>
        <p:spPr>
          <a:xfrm>
            <a:off x="1737360" y="2990088"/>
            <a:ext cx="9144000" cy="457200"/>
          </a:xfrm>
          <a:prstGeom prst="rect">
            <a:avLst/>
          </a:prstGeom>
          <a:noFill/>
        </p:spPr>
        <p:txBody>
          <a:bodyPr wrap="square" anchor="t" lIns="45720" rIns="45720" tIns="27432" bIns="27432">
            <a:spAutoFit/>
          </a:bodyPr>
          <a:lstStyle/>
          <a:p>
            <a:pPr>
              <a:spcAft>
                <a:spcPts val="500"/>
              </a:spcAft>
            </a:pPr>
            <a:r>
              <a:rPr sz="2400" b="1">
                <a:solidFill>
                  <a:srgbClr val="1F3A5F"/>
                </a:solidFill>
                <a:latin typeface="Calibri"/>
              </a:rPr>
              <a:t>Q3 — Fenêtres Swing</a:t>
            </a:r>
          </a:p>
        </p:txBody>
      </p:sp>
      <p:sp>
        <p:nvSpPr>
          <p:cNvPr id="16" name="TextBox 15"/>
          <p:cNvSpPr txBox="1"/>
          <p:nvPr/>
        </p:nvSpPr>
        <p:spPr>
          <a:xfrm>
            <a:off x="1737360" y="3374136"/>
            <a:ext cx="9144000" cy="365760"/>
          </a:xfrm>
          <a:prstGeom prst="rect">
            <a:avLst/>
          </a:prstGeom>
          <a:noFill/>
        </p:spPr>
        <p:txBody>
          <a:bodyPr wrap="square" anchor="t" lIns="45720" rIns="45720" tIns="27432" bIns="27432">
            <a:spAutoFit/>
          </a:bodyPr>
          <a:lstStyle/>
          <a:p>
            <a:pPr>
              <a:spcAft>
                <a:spcPts val="500"/>
              </a:spcAft>
            </a:pPr>
            <a:r>
              <a:rPr sz="1500" b="0">
                <a:solidFill>
                  <a:srgbClr val="555B66"/>
                </a:solidFill>
                <a:latin typeface="Calibri"/>
              </a:rPr>
              <a:t>code commenté et fenêtres obtenues (2 slides)</a:t>
            </a:r>
          </a:p>
        </p:txBody>
      </p:sp>
      <p:sp>
        <p:nvSpPr>
          <p:cNvPr id="17" name="Oval 16"/>
          <p:cNvSpPr/>
          <p:nvPr/>
        </p:nvSpPr>
        <p:spPr>
          <a:xfrm>
            <a:off x="822960" y="3922776"/>
            <a:ext cx="640080" cy="640080"/>
          </a:xfrm>
          <a:prstGeom prst="ellipse">
            <a:avLst/>
          </a:prstGeom>
          <a:solidFill>
            <a:srgbClr val="E85D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FFFFFF"/>
                </a:solidFill>
              </a:rPr>
              <a:t>4</a:t>
            </a:r>
          </a:p>
        </p:txBody>
      </p:sp>
      <p:sp>
        <p:nvSpPr>
          <p:cNvPr id="18" name="TextBox 17"/>
          <p:cNvSpPr txBox="1"/>
          <p:nvPr/>
        </p:nvSpPr>
        <p:spPr>
          <a:xfrm>
            <a:off x="1737360" y="3886200"/>
            <a:ext cx="9144000" cy="457200"/>
          </a:xfrm>
          <a:prstGeom prst="rect">
            <a:avLst/>
          </a:prstGeom>
          <a:noFill/>
        </p:spPr>
        <p:txBody>
          <a:bodyPr wrap="square" anchor="t" lIns="45720" rIns="45720" tIns="27432" bIns="27432">
            <a:spAutoFit/>
          </a:bodyPr>
          <a:lstStyle/>
          <a:p>
            <a:pPr>
              <a:spcAft>
                <a:spcPts val="500"/>
              </a:spcAft>
            </a:pPr>
            <a:r>
              <a:rPr sz="2400" b="1">
                <a:solidFill>
                  <a:srgbClr val="1F3A5F"/>
                </a:solidFill>
                <a:latin typeface="Calibri"/>
              </a:rPr>
              <a:t>Q4 — Listeners, exceptions, fichiers</a:t>
            </a:r>
          </a:p>
        </p:txBody>
      </p:sp>
      <p:sp>
        <p:nvSpPr>
          <p:cNvPr id="19" name="TextBox 18"/>
          <p:cNvSpPr txBox="1"/>
          <p:nvPr/>
        </p:nvSpPr>
        <p:spPr>
          <a:xfrm>
            <a:off x="1737360" y="4270248"/>
            <a:ext cx="9144000" cy="365760"/>
          </a:xfrm>
          <a:prstGeom prst="rect">
            <a:avLst/>
          </a:prstGeom>
          <a:noFill/>
        </p:spPr>
        <p:txBody>
          <a:bodyPr wrap="square" anchor="t" lIns="45720" rIns="45720" tIns="27432" bIns="27432">
            <a:spAutoFit/>
          </a:bodyPr>
          <a:lstStyle/>
          <a:p>
            <a:pPr>
              <a:spcAft>
                <a:spcPts val="500"/>
              </a:spcAft>
            </a:pPr>
            <a:r>
              <a:rPr sz="1500" b="0">
                <a:solidFill>
                  <a:srgbClr val="555B66"/>
                </a:solidFill>
                <a:latin typeface="Calibri"/>
              </a:rPr>
              <a:t>clics, erreurs affichées, .txt et .ser (3 slides)</a:t>
            </a:r>
          </a:p>
        </p:txBody>
      </p:sp>
      <p:sp>
        <p:nvSpPr>
          <p:cNvPr id="20" name="Oval 19"/>
          <p:cNvSpPr/>
          <p:nvPr/>
        </p:nvSpPr>
        <p:spPr>
          <a:xfrm>
            <a:off x="822960" y="4818888"/>
            <a:ext cx="640080" cy="640080"/>
          </a:xfrm>
          <a:prstGeom prst="ellipse">
            <a:avLst/>
          </a:prstGeom>
          <a:solidFill>
            <a:srgbClr val="E85D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FFFFFF"/>
                </a:solidFill>
              </a:rPr>
              <a:t>5</a:t>
            </a:r>
          </a:p>
        </p:txBody>
      </p:sp>
      <p:sp>
        <p:nvSpPr>
          <p:cNvPr id="21" name="TextBox 20"/>
          <p:cNvSpPr txBox="1"/>
          <p:nvPr/>
        </p:nvSpPr>
        <p:spPr>
          <a:xfrm>
            <a:off x="1737360" y="4782312"/>
            <a:ext cx="9144000" cy="457200"/>
          </a:xfrm>
          <a:prstGeom prst="rect">
            <a:avLst/>
          </a:prstGeom>
          <a:noFill/>
        </p:spPr>
        <p:txBody>
          <a:bodyPr wrap="square" anchor="t" lIns="45720" rIns="45720" tIns="27432" bIns="27432">
            <a:spAutoFit/>
          </a:bodyPr>
          <a:lstStyle/>
          <a:p>
            <a:pPr>
              <a:spcAft>
                <a:spcPts val="500"/>
              </a:spcAft>
            </a:pPr>
            <a:r>
              <a:rPr sz="2400" b="1">
                <a:solidFill>
                  <a:srgbClr val="1F3A5F"/>
                </a:solidFill>
                <a:latin typeface="Calibri"/>
              </a:rPr>
              <a:t>Bilan, sources et IA</a:t>
            </a:r>
          </a:p>
        </p:txBody>
      </p:sp>
      <p:sp>
        <p:nvSpPr>
          <p:cNvPr id="22" name="TextBox 21"/>
          <p:cNvSpPr txBox="1"/>
          <p:nvPr/>
        </p:nvSpPr>
        <p:spPr>
          <a:xfrm>
            <a:off x="1737360" y="5166359"/>
            <a:ext cx="9144000" cy="365760"/>
          </a:xfrm>
          <a:prstGeom prst="rect">
            <a:avLst/>
          </a:prstGeom>
          <a:noFill/>
        </p:spPr>
        <p:txBody>
          <a:bodyPr wrap="square" anchor="t" lIns="45720" rIns="45720" tIns="27432" bIns="27432">
            <a:spAutoFit/>
          </a:bodyPr>
          <a:lstStyle/>
          <a:p>
            <a:pPr>
              <a:spcAft>
                <a:spcPts val="500"/>
              </a:spcAft>
            </a:pPr>
            <a:r>
              <a:rPr sz="1500" b="0">
                <a:solidFill>
                  <a:srgbClr val="555B66"/>
                </a:solidFill>
                <a:latin typeface="Calibri"/>
              </a:rPr>
              <a:t>ce qui marche, limites, outils utilisés</a:t>
            </a:r>
          </a:p>
        </p:txBody>
      </p:sp>
      <p:sp>
        <p:nvSpPr>
          <p:cNvPr id="23" name="Rectangle 22"/>
          <p:cNvSpPr/>
          <p:nvPr/>
        </p:nvSpPr>
        <p:spPr>
          <a:xfrm>
            <a:off x="822960" y="5760720"/>
            <a:ext cx="10515600" cy="59436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0120" y="5788152"/>
            <a:ext cx="10241280" cy="548640"/>
          </a:xfrm>
          <a:prstGeom prst="rect">
            <a:avLst/>
          </a:prstGeom>
          <a:noFill/>
        </p:spPr>
        <p:txBody>
          <a:bodyPr wrap="square" anchor="ctr" lIns="45720" rIns="45720" tIns="27432" bIns="27432">
            <a:spAutoFit/>
          </a:bodyPr>
          <a:lstStyle/>
          <a:p>
            <a:pPr>
              <a:spcAft>
                <a:spcPts val="500"/>
              </a:spcAft>
            </a:pPr>
            <a:r>
              <a:rPr sz="1400" b="0">
                <a:solidFill>
                  <a:srgbClr val="1B1F27"/>
                </a:solidFill>
                <a:latin typeface="Calibri"/>
              </a:rPr>
              <a:t>Point de départ : le code du TP5 (classes métier, 9 exceptions, fichier texte, sérialisation). Le TP6 n'ajoute que des classes d'interface ; le métier n'est pas réécrit.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85D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9692640" cy="685800"/>
          </a:xfrm>
          <a:prstGeom prst="rect">
            <a:avLst/>
          </a:prstGeom>
          <a:noFill/>
        </p:spPr>
        <p:txBody>
          <a:bodyPr wrap="square" anchor="ctr" lIns="45720" rIns="45720" tIns="27432" bIns="27432">
            <a:spAutoFit/>
          </a:bodyPr>
          <a:lstStyle/>
          <a:p>
            <a:pPr>
              <a:spcAft>
                <a:spcPts val="500"/>
              </a:spcAft>
            </a:pPr>
            <a:r>
              <a:rPr sz="2700" b="1">
                <a:solidFill>
                  <a:srgbClr val="FFFFFF"/>
                </a:solidFill>
                <a:latin typeface="Calibri"/>
              </a:rPr>
              <a:t>Q1 — Maquette fil de fer (wireframes)</a:t>
            </a:r>
          </a:p>
        </p:txBody>
      </p:sp>
      <p:sp>
        <p:nvSpPr>
          <p:cNvPr id="5" name="TextBox 4"/>
          <p:cNvSpPr txBox="1"/>
          <p:nvPr/>
        </p:nvSpPr>
        <p:spPr>
          <a:xfrm>
            <a:off x="9692640" y="109728"/>
            <a:ext cx="2194560" cy="685800"/>
          </a:xfrm>
          <a:prstGeom prst="rect">
            <a:avLst/>
          </a:prstGeom>
          <a:noFill/>
        </p:spPr>
        <p:txBody>
          <a:bodyPr wrap="square" anchor="ctr" lIns="45720" rIns="45720" tIns="27432" bIns="27432">
            <a:spAutoFit/>
          </a:bodyPr>
          <a:lstStyle/>
          <a:p>
            <a:pPr algn="r">
              <a:spcAft>
                <a:spcPts val="500"/>
              </a:spcAft>
            </a:pPr>
            <a:r>
              <a:rPr sz="1400" b="0">
                <a:solidFill>
                  <a:srgbClr val="C9D6EA"/>
                </a:solidFill>
                <a:latin typeface="Calibri"/>
              </a:rPr>
              <a:t>FastBite · TP6</a:t>
            </a:r>
          </a:p>
        </p:txBody>
      </p:sp>
      <p:sp>
        <p:nvSpPr>
          <p:cNvPr id="6" name="TextBox 5"/>
          <p:cNvSpPr txBox="1"/>
          <p:nvPr/>
        </p:nvSpPr>
        <p:spPr>
          <a:xfrm>
            <a:off x="411480" y="6510528"/>
            <a:ext cx="8229600" cy="274320"/>
          </a:xfrm>
          <a:prstGeom prst="rect">
            <a:avLst/>
          </a:prstGeom>
          <a:noFill/>
        </p:spPr>
        <p:txBody>
          <a:bodyPr wrap="square" anchor="t" lIns="45720" rIns="45720" tIns="27432" bIns="27432">
            <a:spAutoFit/>
          </a:bodyPr>
          <a:lstStyle/>
          <a:p>
            <a:pPr>
              <a:spcAft>
                <a:spcPts val="500"/>
              </a:spcAft>
            </a:pPr>
            <a:r>
              <a:rPr sz="1000" b="0">
                <a:solidFill>
                  <a:srgbClr val="555B66"/>
                </a:solidFill>
                <a:latin typeface="Calibri"/>
              </a:rPr>
              <a:t>POO Java — Swing · Listeners · Exceptions · Fichiers</a:t>
            </a:r>
          </a:p>
        </p:txBody>
      </p:sp>
      <p:sp>
        <p:nvSpPr>
          <p:cNvPr id="7" name="TextBox 6"/>
          <p:cNvSpPr txBox="1"/>
          <p:nvPr/>
        </p:nvSpPr>
        <p:spPr>
          <a:xfrm>
            <a:off x="10881360" y="6510528"/>
            <a:ext cx="914400" cy="274320"/>
          </a:xfrm>
          <a:prstGeom prst="rect">
            <a:avLst/>
          </a:prstGeom>
          <a:noFill/>
        </p:spPr>
        <p:txBody>
          <a:bodyPr wrap="square" anchor="t" lIns="45720" rIns="45720" tIns="27432" bIns="27432">
            <a:spAutoFit/>
          </a:bodyPr>
          <a:lstStyle/>
          <a:p>
            <a:pPr algn="r">
              <a:spcAft>
                <a:spcPts val="500"/>
              </a:spcAft>
            </a:pPr>
            <a:r>
              <a:rPr sz="1100" b="1">
                <a:solidFill>
                  <a:srgbClr val="555B66"/>
                </a:solidFill>
                <a:latin typeface="Calibri"/>
              </a:rPr>
              <a:t>3</a:t>
            </a:r>
          </a:p>
        </p:txBody>
      </p:sp>
      <p:pic>
        <p:nvPicPr>
          <p:cNvPr id="8" name="Picture 7" descr="q1_wireframes.png"/>
          <p:cNvPicPr>
            <a:picLocks noChangeAspect="1"/>
          </p:cNvPicPr>
          <p:nvPr/>
        </p:nvPicPr>
        <p:blipFill>
          <a:blip r:embed="rId2"/>
          <a:stretch>
            <a:fillRect/>
          </a:stretch>
        </p:blipFill>
        <p:spPr>
          <a:xfrm>
            <a:off x="653959" y="1051560"/>
            <a:ext cx="10899321" cy="4069080"/>
          </a:xfrm>
          <a:prstGeom prst="rect">
            <a:avLst/>
          </a:prstGeom>
          <a:ln w="9525">
            <a:solidFill>
              <a:srgbClr val="C4CAD4"/>
            </a:solidFill>
          </a:ln>
        </p:spPr>
      </p:pic>
      <p:sp>
        <p:nvSpPr>
          <p:cNvPr id="9" name="TextBox 8"/>
          <p:cNvSpPr txBox="1"/>
          <p:nvPr/>
        </p:nvSpPr>
        <p:spPr>
          <a:xfrm>
            <a:off x="274320" y="5138927"/>
            <a:ext cx="11658600" cy="274320"/>
          </a:xfrm>
          <a:prstGeom prst="rect">
            <a:avLst/>
          </a:prstGeom>
          <a:noFill/>
        </p:spPr>
        <p:txBody>
          <a:bodyPr wrap="square" anchor="t" lIns="45720" rIns="45720" tIns="27432" bIns="27432">
            <a:spAutoFit/>
          </a:bodyPr>
          <a:lstStyle/>
          <a:p>
            <a:pPr algn="ctr">
              <a:spcAft>
                <a:spcPts val="500"/>
              </a:spcAft>
            </a:pPr>
            <a:r>
              <a:rPr sz="1000" b="0" i="1">
                <a:solidFill>
                  <a:srgbClr val="555B66"/>
                </a:solidFill>
                <a:latin typeface="Calibri"/>
              </a:rPr>
              <a:t>Capture 1 — maquette des 3 fenêtres, générée par IA à partir de nos TP2 à TP5</a:t>
            </a:r>
          </a:p>
        </p:txBody>
      </p:sp>
      <p:sp>
        <p:nvSpPr>
          <p:cNvPr id="10" name="TextBox 9"/>
          <p:cNvSpPr txBox="1"/>
          <p:nvPr/>
        </p:nvSpPr>
        <p:spPr>
          <a:xfrm>
            <a:off x="457200" y="5440679"/>
            <a:ext cx="11247120" cy="1005840"/>
          </a:xfrm>
          <a:prstGeom prst="rect">
            <a:avLst/>
          </a:prstGeom>
          <a:noFill/>
        </p:spPr>
        <p:txBody>
          <a:bodyPr wrap="square" anchor="t" lIns="45720" rIns="45720" tIns="27432" bIns="27432">
            <a:spAutoFit/>
          </a:bodyPr>
          <a:lstStyle/>
          <a:p>
            <a:pPr>
              <a:spcAft>
                <a:spcPts val="500"/>
              </a:spcAft>
            </a:pPr>
            <a:r>
              <a:rPr sz="1350" b="0">
                <a:solidFill>
                  <a:srgbClr val="1B1F27"/>
                </a:solidFill>
                <a:latin typeface="Calibri"/>
              </a:rPr>
              <a:t>• Pourquoi 3 fenêtres ? Elles suivent le cas d'utilisation principal du TP2 : choisir un restaurant, composer sa commande, payer et noter.</a:t>
            </a:r>
          </a:p>
          <a:p>
            <a:pPr>
              <a:spcAft>
                <a:spcPts val="500"/>
              </a:spcAft>
            </a:pPr>
            <a:r>
              <a:rPr sz="1350" b="0">
                <a:solidFill>
                  <a:srgbClr val="1B1F27"/>
                </a:solidFill>
                <a:latin typeface="Calibri"/>
              </a:rPr>
              <a:t>• Présentation inspirée des applications de livraison (cartes, panier à droite, suivi du livreur) ; chaque zone est un composant Swing (JPanel, JLabel, JTextField, JButton), les pastilles bleues sont les boutons qui auront un listener.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85D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9692640" cy="685800"/>
          </a:xfrm>
          <a:prstGeom prst="rect">
            <a:avLst/>
          </a:prstGeom>
          <a:noFill/>
        </p:spPr>
        <p:txBody>
          <a:bodyPr wrap="square" anchor="ctr" lIns="45720" rIns="45720" tIns="27432" bIns="27432">
            <a:spAutoFit/>
          </a:bodyPr>
          <a:lstStyle/>
          <a:p>
            <a:pPr>
              <a:spcAft>
                <a:spcPts val="500"/>
              </a:spcAft>
            </a:pPr>
            <a:r>
              <a:rPr sz="2700" b="1">
                <a:solidFill>
                  <a:srgbClr val="FFFFFF"/>
                </a:solidFill>
                <a:latin typeface="Calibri"/>
              </a:rPr>
              <a:t>Q2 — Storyboard : navigation entre les pages</a:t>
            </a:r>
          </a:p>
        </p:txBody>
      </p:sp>
      <p:sp>
        <p:nvSpPr>
          <p:cNvPr id="5" name="TextBox 4"/>
          <p:cNvSpPr txBox="1"/>
          <p:nvPr/>
        </p:nvSpPr>
        <p:spPr>
          <a:xfrm>
            <a:off x="9692640" y="109728"/>
            <a:ext cx="2194560" cy="685800"/>
          </a:xfrm>
          <a:prstGeom prst="rect">
            <a:avLst/>
          </a:prstGeom>
          <a:noFill/>
        </p:spPr>
        <p:txBody>
          <a:bodyPr wrap="square" anchor="ctr" lIns="45720" rIns="45720" tIns="27432" bIns="27432">
            <a:spAutoFit/>
          </a:bodyPr>
          <a:lstStyle/>
          <a:p>
            <a:pPr algn="r">
              <a:spcAft>
                <a:spcPts val="500"/>
              </a:spcAft>
            </a:pPr>
            <a:r>
              <a:rPr sz="1400" b="0">
                <a:solidFill>
                  <a:srgbClr val="C9D6EA"/>
                </a:solidFill>
                <a:latin typeface="Calibri"/>
              </a:rPr>
              <a:t>FastBite · TP6</a:t>
            </a:r>
          </a:p>
        </p:txBody>
      </p:sp>
      <p:sp>
        <p:nvSpPr>
          <p:cNvPr id="6" name="TextBox 5"/>
          <p:cNvSpPr txBox="1"/>
          <p:nvPr/>
        </p:nvSpPr>
        <p:spPr>
          <a:xfrm>
            <a:off x="411480" y="6510528"/>
            <a:ext cx="8229600" cy="274320"/>
          </a:xfrm>
          <a:prstGeom prst="rect">
            <a:avLst/>
          </a:prstGeom>
          <a:noFill/>
        </p:spPr>
        <p:txBody>
          <a:bodyPr wrap="square" anchor="t" lIns="45720" rIns="45720" tIns="27432" bIns="27432">
            <a:spAutoFit/>
          </a:bodyPr>
          <a:lstStyle/>
          <a:p>
            <a:pPr>
              <a:spcAft>
                <a:spcPts val="500"/>
              </a:spcAft>
            </a:pPr>
            <a:r>
              <a:rPr sz="1000" b="0">
                <a:solidFill>
                  <a:srgbClr val="555B66"/>
                </a:solidFill>
                <a:latin typeface="Calibri"/>
              </a:rPr>
              <a:t>POO Java — Swing · Listeners · Exceptions · Fichiers</a:t>
            </a:r>
          </a:p>
        </p:txBody>
      </p:sp>
      <p:sp>
        <p:nvSpPr>
          <p:cNvPr id="7" name="TextBox 6"/>
          <p:cNvSpPr txBox="1"/>
          <p:nvPr/>
        </p:nvSpPr>
        <p:spPr>
          <a:xfrm>
            <a:off x="10881360" y="6510528"/>
            <a:ext cx="914400" cy="274320"/>
          </a:xfrm>
          <a:prstGeom prst="rect">
            <a:avLst/>
          </a:prstGeom>
          <a:noFill/>
        </p:spPr>
        <p:txBody>
          <a:bodyPr wrap="square" anchor="t" lIns="45720" rIns="45720" tIns="27432" bIns="27432">
            <a:spAutoFit/>
          </a:bodyPr>
          <a:lstStyle/>
          <a:p>
            <a:pPr algn="r">
              <a:spcAft>
                <a:spcPts val="500"/>
              </a:spcAft>
            </a:pPr>
            <a:r>
              <a:rPr sz="1100" b="1">
                <a:solidFill>
                  <a:srgbClr val="555B66"/>
                </a:solidFill>
                <a:latin typeface="Calibri"/>
              </a:rPr>
              <a:t>4</a:t>
            </a:r>
          </a:p>
        </p:txBody>
      </p:sp>
      <p:pic>
        <p:nvPicPr>
          <p:cNvPr id="8" name="Picture 7" descr="q2_storyboard.png"/>
          <p:cNvPicPr>
            <a:picLocks noChangeAspect="1"/>
          </p:cNvPicPr>
          <p:nvPr/>
        </p:nvPicPr>
        <p:blipFill>
          <a:blip r:embed="rId2"/>
          <a:stretch>
            <a:fillRect/>
          </a:stretch>
        </p:blipFill>
        <p:spPr>
          <a:xfrm>
            <a:off x="274320" y="1051560"/>
            <a:ext cx="8138160" cy="4665878"/>
          </a:xfrm>
          <a:prstGeom prst="rect">
            <a:avLst/>
          </a:prstGeom>
          <a:ln w="9525">
            <a:solidFill>
              <a:srgbClr val="C4CAD4"/>
            </a:solidFill>
          </a:ln>
        </p:spPr>
      </p:pic>
      <p:sp>
        <p:nvSpPr>
          <p:cNvPr id="9" name="TextBox 8"/>
          <p:cNvSpPr txBox="1"/>
          <p:nvPr/>
        </p:nvSpPr>
        <p:spPr>
          <a:xfrm>
            <a:off x="274320" y="5735726"/>
            <a:ext cx="8138160" cy="274320"/>
          </a:xfrm>
          <a:prstGeom prst="rect">
            <a:avLst/>
          </a:prstGeom>
          <a:noFill/>
        </p:spPr>
        <p:txBody>
          <a:bodyPr wrap="square" anchor="t" lIns="45720" rIns="45720" tIns="27432" bIns="27432">
            <a:spAutoFit/>
          </a:bodyPr>
          <a:lstStyle/>
          <a:p>
            <a:pPr algn="ctr">
              <a:spcAft>
                <a:spcPts val="500"/>
              </a:spcAft>
            </a:pPr>
            <a:r>
              <a:rPr sz="1000" b="0" i="1">
                <a:solidFill>
                  <a:srgbClr val="555B66"/>
                </a:solidFill>
                <a:latin typeface="Calibri"/>
              </a:rPr>
              <a:t>Capture 2 — storyboard généré par IA</a:t>
            </a:r>
          </a:p>
        </p:txBody>
      </p:sp>
      <p:sp>
        <p:nvSpPr>
          <p:cNvPr id="10" name="TextBox 9"/>
          <p:cNvSpPr txBox="1"/>
          <p:nvPr/>
        </p:nvSpPr>
        <p:spPr>
          <a:xfrm>
            <a:off x="8549640" y="1143000"/>
            <a:ext cx="3429000" cy="5212080"/>
          </a:xfrm>
          <a:prstGeom prst="rect">
            <a:avLst/>
          </a:prstGeom>
          <a:noFill/>
        </p:spPr>
        <p:txBody>
          <a:bodyPr wrap="square" anchor="t" lIns="45720" rIns="45720" tIns="27432" bIns="27432">
            <a:spAutoFit/>
          </a:bodyPr>
          <a:lstStyle/>
          <a:p>
            <a:pPr>
              <a:spcAft>
                <a:spcPts val="500"/>
              </a:spcAft>
            </a:pPr>
            <a:r>
              <a:rPr sz="1600" b="1">
                <a:solidFill>
                  <a:srgbClr val="1F3A5F"/>
                </a:solidFill>
                <a:latin typeface="Calibri"/>
              </a:rPr>
              <a:t>Lecture</a:t>
            </a:r>
          </a:p>
          <a:p>
            <a:pPr>
              <a:spcAft>
                <a:spcPts val="500"/>
              </a:spcAft>
            </a:pPr>
            <a:r>
              <a:rPr sz="1300" b="0">
                <a:solidFill>
                  <a:srgbClr val="1B1F27"/>
                </a:solidFill>
                <a:latin typeface="Calibri"/>
              </a:rPr>
              <a:t>• Bleu : un clic change de page (Voir le menu, Commander, Retour, Suivre ma commande).</a:t>
            </a:r>
          </a:p>
          <a:p>
            <a:pPr>
              <a:spcAft>
                <a:spcPts val="500"/>
              </a:spcAft>
            </a:pPr>
            <a:r>
              <a:rPr sz="1300" b="0">
                <a:solidFill>
                  <a:srgbClr val="1B1F27"/>
                </a:solidFill>
                <a:latin typeface="Calibri"/>
              </a:rPr>
              <a:t>• Rouge : une exception est attrapée ; une boîte d'erreur s'ouvre et on reste sur la page.</a:t>
            </a:r>
          </a:p>
          <a:p>
            <a:pPr>
              <a:spcAft>
                <a:spcPts val="500"/>
              </a:spcAft>
            </a:pPr>
            <a:r>
              <a:rPr sz="1300" b="0">
                <a:solidFill>
                  <a:srgbClr val="1B1F27"/>
                </a:solidFill>
                <a:latin typeface="Calibri"/>
              </a:rPr>
              <a:t>• Vert : un fichier est écrit ou lu (.ser sur l'accueil, .txt sur le menu).</a:t>
            </a:r>
          </a:p>
          <a:p>
            <a:pPr>
              <a:spcAft>
                <a:spcPts val="500"/>
              </a:spcAft>
            </a:pPr>
            <a:r>
              <a:rPr sz="1600" b="1">
                <a:solidFill>
                  <a:srgbClr val="1F3A5F"/>
                </a:solidFill>
                <a:latin typeface="Calibri"/>
              </a:rPr>
              <a:t>Choix</a:t>
            </a:r>
          </a:p>
          <a:p>
            <a:pPr>
              <a:spcAft>
                <a:spcPts val="500"/>
              </a:spcAft>
            </a:pPr>
            <a:r>
              <a:rPr sz="1300" b="0">
                <a:solidFill>
                  <a:srgbClr val="1B1F27"/>
                </a:solidFill>
                <a:latin typeface="Calibri"/>
              </a:rPr>
              <a:t>• Une seule fenêtre visible à la fois : l'accueil est caché, pas détruit, pour y revenir.</a:t>
            </a:r>
          </a:p>
          <a:p>
            <a:pPr>
              <a:spcAft>
                <a:spcPts val="500"/>
              </a:spcAft>
            </a:pPr>
            <a:r>
              <a:rPr sz="1300" b="0">
                <a:solidFill>
                  <a:srgbClr val="1B1F27"/>
                </a:solidFill>
                <a:latin typeface="Calibri"/>
              </a:rPr>
              <a:t>• Les fenêtres partagent un objet Donnees (restaurants, client, livreur, commande en cours de livraison).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85D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9692640" cy="685800"/>
          </a:xfrm>
          <a:prstGeom prst="rect">
            <a:avLst/>
          </a:prstGeom>
          <a:noFill/>
        </p:spPr>
        <p:txBody>
          <a:bodyPr wrap="square" anchor="ctr" lIns="45720" rIns="45720" tIns="27432" bIns="27432">
            <a:spAutoFit/>
          </a:bodyPr>
          <a:lstStyle/>
          <a:p>
            <a:pPr>
              <a:spcAft>
                <a:spcPts val="500"/>
              </a:spcAft>
            </a:pPr>
            <a:r>
              <a:rPr sz="2700" b="1">
                <a:solidFill>
                  <a:srgbClr val="FFFFFF"/>
                </a:solidFill>
                <a:latin typeface="Calibri"/>
              </a:rPr>
              <a:t>Q3 — Construire une fenêtre Swing : le code</a:t>
            </a:r>
          </a:p>
        </p:txBody>
      </p:sp>
      <p:sp>
        <p:nvSpPr>
          <p:cNvPr id="5" name="TextBox 4"/>
          <p:cNvSpPr txBox="1"/>
          <p:nvPr/>
        </p:nvSpPr>
        <p:spPr>
          <a:xfrm>
            <a:off x="9692640" y="109728"/>
            <a:ext cx="2194560" cy="685800"/>
          </a:xfrm>
          <a:prstGeom prst="rect">
            <a:avLst/>
          </a:prstGeom>
          <a:noFill/>
        </p:spPr>
        <p:txBody>
          <a:bodyPr wrap="square" anchor="ctr" lIns="45720" rIns="45720" tIns="27432" bIns="27432">
            <a:spAutoFit/>
          </a:bodyPr>
          <a:lstStyle/>
          <a:p>
            <a:pPr algn="r">
              <a:spcAft>
                <a:spcPts val="500"/>
              </a:spcAft>
            </a:pPr>
            <a:r>
              <a:rPr sz="1400" b="0">
                <a:solidFill>
                  <a:srgbClr val="C9D6EA"/>
                </a:solidFill>
                <a:latin typeface="Calibri"/>
              </a:rPr>
              <a:t>FastBite · TP6</a:t>
            </a:r>
          </a:p>
        </p:txBody>
      </p:sp>
      <p:sp>
        <p:nvSpPr>
          <p:cNvPr id="6" name="TextBox 5"/>
          <p:cNvSpPr txBox="1"/>
          <p:nvPr/>
        </p:nvSpPr>
        <p:spPr>
          <a:xfrm>
            <a:off x="411480" y="6510528"/>
            <a:ext cx="8229600" cy="274320"/>
          </a:xfrm>
          <a:prstGeom prst="rect">
            <a:avLst/>
          </a:prstGeom>
          <a:noFill/>
        </p:spPr>
        <p:txBody>
          <a:bodyPr wrap="square" anchor="t" lIns="45720" rIns="45720" tIns="27432" bIns="27432">
            <a:spAutoFit/>
          </a:bodyPr>
          <a:lstStyle/>
          <a:p>
            <a:pPr>
              <a:spcAft>
                <a:spcPts val="500"/>
              </a:spcAft>
            </a:pPr>
            <a:r>
              <a:rPr sz="1000" b="0">
                <a:solidFill>
                  <a:srgbClr val="555B66"/>
                </a:solidFill>
                <a:latin typeface="Calibri"/>
              </a:rPr>
              <a:t>POO Java — Swing · Listeners · Exceptions · Fichiers</a:t>
            </a:r>
          </a:p>
        </p:txBody>
      </p:sp>
      <p:sp>
        <p:nvSpPr>
          <p:cNvPr id="7" name="TextBox 6"/>
          <p:cNvSpPr txBox="1"/>
          <p:nvPr/>
        </p:nvSpPr>
        <p:spPr>
          <a:xfrm>
            <a:off x="10881360" y="6510528"/>
            <a:ext cx="914400" cy="274320"/>
          </a:xfrm>
          <a:prstGeom prst="rect">
            <a:avLst/>
          </a:prstGeom>
          <a:noFill/>
        </p:spPr>
        <p:txBody>
          <a:bodyPr wrap="square" anchor="t" lIns="45720" rIns="45720" tIns="27432" bIns="27432">
            <a:spAutoFit/>
          </a:bodyPr>
          <a:lstStyle/>
          <a:p>
            <a:pPr algn="r">
              <a:spcAft>
                <a:spcPts val="500"/>
              </a:spcAft>
            </a:pPr>
            <a:r>
              <a:rPr sz="1100" b="1">
                <a:solidFill>
                  <a:srgbClr val="555B66"/>
                </a:solidFill>
                <a:latin typeface="Calibri"/>
              </a:rPr>
              <a:t>5</a:t>
            </a:r>
          </a:p>
        </p:txBody>
      </p:sp>
      <p:pic>
        <p:nvPicPr>
          <p:cNvPr id="8" name="Picture 7" descr="q3_code_fenetre.png"/>
          <p:cNvPicPr>
            <a:picLocks noChangeAspect="1"/>
          </p:cNvPicPr>
          <p:nvPr/>
        </p:nvPicPr>
        <p:blipFill>
          <a:blip r:embed="rId2"/>
          <a:stretch>
            <a:fillRect/>
          </a:stretch>
        </p:blipFill>
        <p:spPr>
          <a:xfrm>
            <a:off x="677687" y="1051560"/>
            <a:ext cx="5868385" cy="5120640"/>
          </a:xfrm>
          <a:prstGeom prst="rect">
            <a:avLst/>
          </a:prstGeom>
          <a:ln w="9525">
            <a:solidFill>
              <a:srgbClr val="C4CAD4"/>
            </a:solidFill>
          </a:ln>
        </p:spPr>
      </p:pic>
      <p:sp>
        <p:nvSpPr>
          <p:cNvPr id="9" name="TextBox 8"/>
          <p:cNvSpPr txBox="1"/>
          <p:nvPr/>
        </p:nvSpPr>
        <p:spPr>
          <a:xfrm>
            <a:off x="274320" y="6190488"/>
            <a:ext cx="6675120" cy="274320"/>
          </a:xfrm>
          <a:prstGeom prst="rect">
            <a:avLst/>
          </a:prstGeom>
          <a:noFill/>
        </p:spPr>
        <p:txBody>
          <a:bodyPr wrap="square" anchor="t" lIns="45720" rIns="45720" tIns="27432" bIns="27432">
            <a:spAutoFit/>
          </a:bodyPr>
          <a:lstStyle/>
          <a:p>
            <a:pPr algn="ctr">
              <a:spcAft>
                <a:spcPts val="500"/>
              </a:spcAft>
            </a:pPr>
            <a:r>
              <a:rPr sz="1000" b="0" i="1">
                <a:solidFill>
                  <a:srgbClr val="555B66"/>
                </a:solidFill>
                <a:latin typeface="Calibri"/>
              </a:rPr>
              <a:t>Capture 3 — FenetreAccueil : composants, layouts, abonnement aux boutons</a:t>
            </a:r>
          </a:p>
        </p:txBody>
      </p:sp>
      <p:pic>
        <p:nvPicPr>
          <p:cNvPr id="10" name="Picture 9" descr="q3_code_main.png"/>
          <p:cNvPicPr>
            <a:picLocks noChangeAspect="1"/>
          </p:cNvPicPr>
          <p:nvPr/>
        </p:nvPicPr>
        <p:blipFill>
          <a:blip r:embed="rId3"/>
          <a:stretch>
            <a:fillRect/>
          </a:stretch>
        </p:blipFill>
        <p:spPr>
          <a:xfrm>
            <a:off x="7533456" y="1097280"/>
            <a:ext cx="3998326" cy="2103120"/>
          </a:xfrm>
          <a:prstGeom prst="rect">
            <a:avLst/>
          </a:prstGeom>
          <a:ln w="9525">
            <a:solidFill>
              <a:srgbClr val="C4CAD4"/>
            </a:solidFill>
          </a:ln>
        </p:spPr>
      </p:pic>
      <p:sp>
        <p:nvSpPr>
          <p:cNvPr id="11" name="TextBox 10"/>
          <p:cNvSpPr txBox="1"/>
          <p:nvPr/>
        </p:nvSpPr>
        <p:spPr>
          <a:xfrm>
            <a:off x="7132320" y="3218688"/>
            <a:ext cx="4800600" cy="274320"/>
          </a:xfrm>
          <a:prstGeom prst="rect">
            <a:avLst/>
          </a:prstGeom>
          <a:noFill/>
        </p:spPr>
        <p:txBody>
          <a:bodyPr wrap="square" anchor="t" lIns="45720" rIns="45720" tIns="27432" bIns="27432">
            <a:spAutoFit/>
          </a:bodyPr>
          <a:lstStyle/>
          <a:p>
            <a:pPr algn="ctr">
              <a:spcAft>
                <a:spcPts val="500"/>
              </a:spcAft>
            </a:pPr>
            <a:r>
              <a:rPr sz="1000" b="0" i="1">
                <a:solidFill>
                  <a:srgbClr val="555B66"/>
                </a:solidFill>
                <a:latin typeface="Calibri"/>
              </a:rPr>
              <a:t>Capture 4 — FastBiteGUI.main : lancement</a:t>
            </a:r>
          </a:p>
        </p:txBody>
      </p:sp>
      <p:sp>
        <p:nvSpPr>
          <p:cNvPr id="12" name="TextBox 11"/>
          <p:cNvSpPr txBox="1"/>
          <p:nvPr/>
        </p:nvSpPr>
        <p:spPr>
          <a:xfrm>
            <a:off x="7132320" y="3566160"/>
            <a:ext cx="4800600" cy="3017520"/>
          </a:xfrm>
          <a:prstGeom prst="rect">
            <a:avLst/>
          </a:prstGeom>
          <a:noFill/>
        </p:spPr>
        <p:txBody>
          <a:bodyPr wrap="square" anchor="t" lIns="45720" rIns="45720" tIns="27432" bIns="27432">
            <a:spAutoFit/>
          </a:bodyPr>
          <a:lstStyle/>
          <a:p>
            <a:pPr>
              <a:spcAft>
                <a:spcPts val="500"/>
              </a:spcAft>
            </a:pPr>
            <a:r>
              <a:rPr sz="1500" b="1">
                <a:solidFill>
                  <a:srgbClr val="1F3A5F"/>
                </a:solidFill>
                <a:latin typeface="Calibri"/>
              </a:rPr>
              <a:t>Ce que fait ce code</a:t>
            </a:r>
          </a:p>
          <a:p>
            <a:pPr>
              <a:spcAft>
                <a:spcPts val="500"/>
              </a:spcAft>
            </a:pPr>
            <a:r>
              <a:rPr sz="1250" b="0">
                <a:solidFill>
                  <a:srgbClr val="1B1F27"/>
                </a:solidFill>
                <a:latin typeface="Calibri"/>
              </a:rPr>
              <a:t>• La classe hérite de JFrame : c'est une fenêtre.</a:t>
            </a:r>
          </a:p>
          <a:p>
            <a:pPr>
              <a:spcAft>
                <a:spcPts val="500"/>
              </a:spcAft>
            </a:pPr>
            <a:r>
              <a:rPr sz="1250" b="0">
                <a:solidFill>
                  <a:srgbClr val="1B1F27"/>
                </a:solidFill>
                <a:latin typeface="Calibri"/>
              </a:rPr>
              <a:t>• BorderLayout : 5 zones. GridLayout à 3 colonnes : une carte par restaurant, toutes de même taille.</a:t>
            </a:r>
          </a:p>
          <a:p>
            <a:pPr>
              <a:spcAft>
                <a:spcPts val="500"/>
              </a:spcAft>
            </a:pPr>
            <a:r>
              <a:rPr sz="1250" b="0">
                <a:solidFill>
                  <a:srgbClr val="1B1F27"/>
                </a:solidFill>
                <a:latin typeface="Calibri"/>
              </a:rPr>
              <a:t>• JScrollPane autour de la grille : barre de défilement s'il y a beaucoup de restaurants.</a:t>
            </a:r>
          </a:p>
          <a:p>
            <a:pPr>
              <a:spcAft>
                <a:spcPts val="500"/>
              </a:spcAft>
            </a:pPr>
            <a:r>
              <a:rPr sz="1250" b="0">
                <a:solidFill>
                  <a:srgbClr val="1B1F27"/>
                </a:solidFill>
                <a:latin typeface="Calibri"/>
              </a:rPr>
              <a:t>• addActionListener(this) : la fenêtre écoute ses boutons. Notre classe Style redéfinit paintComponent (boutons arrondis, cartes).</a:t>
            </a:r>
          </a:p>
          <a:p>
            <a:pPr>
              <a:spcAft>
                <a:spcPts val="500"/>
              </a:spcAft>
            </a:pPr>
            <a:r>
              <a:rPr sz="1250" b="0">
                <a:solidFill>
                  <a:srgbClr val="1B1F27"/>
                </a:solidFill>
                <a:latin typeface="Calibri"/>
              </a:rPr>
              <a:t>• invokeLater : Swing crée les fenêtres dans son propre fil d'exécution.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85D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9692640" cy="685800"/>
          </a:xfrm>
          <a:prstGeom prst="rect">
            <a:avLst/>
          </a:prstGeom>
          <a:noFill/>
        </p:spPr>
        <p:txBody>
          <a:bodyPr wrap="square" anchor="ctr" lIns="45720" rIns="45720" tIns="27432" bIns="27432">
            <a:spAutoFit/>
          </a:bodyPr>
          <a:lstStyle/>
          <a:p>
            <a:pPr>
              <a:spcAft>
                <a:spcPts val="500"/>
              </a:spcAft>
            </a:pPr>
            <a:r>
              <a:rPr sz="2700" b="1">
                <a:solidFill>
                  <a:srgbClr val="FFFFFF"/>
                </a:solidFill>
                <a:latin typeface="Calibri"/>
              </a:rPr>
              <a:t>Q3 — Les 3 fenêtres obtenues</a:t>
            </a:r>
          </a:p>
        </p:txBody>
      </p:sp>
      <p:sp>
        <p:nvSpPr>
          <p:cNvPr id="5" name="TextBox 4"/>
          <p:cNvSpPr txBox="1"/>
          <p:nvPr/>
        </p:nvSpPr>
        <p:spPr>
          <a:xfrm>
            <a:off x="9692640" y="109728"/>
            <a:ext cx="2194560" cy="685800"/>
          </a:xfrm>
          <a:prstGeom prst="rect">
            <a:avLst/>
          </a:prstGeom>
          <a:noFill/>
        </p:spPr>
        <p:txBody>
          <a:bodyPr wrap="square" anchor="ctr" lIns="45720" rIns="45720" tIns="27432" bIns="27432">
            <a:spAutoFit/>
          </a:bodyPr>
          <a:lstStyle/>
          <a:p>
            <a:pPr algn="r">
              <a:spcAft>
                <a:spcPts val="500"/>
              </a:spcAft>
            </a:pPr>
            <a:r>
              <a:rPr sz="1400" b="0">
                <a:solidFill>
                  <a:srgbClr val="C9D6EA"/>
                </a:solidFill>
                <a:latin typeface="Calibri"/>
              </a:rPr>
              <a:t>FastBite · TP6</a:t>
            </a:r>
          </a:p>
        </p:txBody>
      </p:sp>
      <p:sp>
        <p:nvSpPr>
          <p:cNvPr id="6" name="TextBox 5"/>
          <p:cNvSpPr txBox="1"/>
          <p:nvPr/>
        </p:nvSpPr>
        <p:spPr>
          <a:xfrm>
            <a:off x="411480" y="6510528"/>
            <a:ext cx="8229600" cy="274320"/>
          </a:xfrm>
          <a:prstGeom prst="rect">
            <a:avLst/>
          </a:prstGeom>
          <a:noFill/>
        </p:spPr>
        <p:txBody>
          <a:bodyPr wrap="square" anchor="t" lIns="45720" rIns="45720" tIns="27432" bIns="27432">
            <a:spAutoFit/>
          </a:bodyPr>
          <a:lstStyle/>
          <a:p>
            <a:pPr>
              <a:spcAft>
                <a:spcPts val="500"/>
              </a:spcAft>
            </a:pPr>
            <a:r>
              <a:rPr sz="1000" b="0">
                <a:solidFill>
                  <a:srgbClr val="555B66"/>
                </a:solidFill>
                <a:latin typeface="Calibri"/>
              </a:rPr>
              <a:t>POO Java — Swing · Listeners · Exceptions · Fichiers</a:t>
            </a:r>
          </a:p>
        </p:txBody>
      </p:sp>
      <p:sp>
        <p:nvSpPr>
          <p:cNvPr id="7" name="TextBox 6"/>
          <p:cNvSpPr txBox="1"/>
          <p:nvPr/>
        </p:nvSpPr>
        <p:spPr>
          <a:xfrm>
            <a:off x="10881360" y="6510528"/>
            <a:ext cx="914400" cy="274320"/>
          </a:xfrm>
          <a:prstGeom prst="rect">
            <a:avLst/>
          </a:prstGeom>
          <a:noFill/>
        </p:spPr>
        <p:txBody>
          <a:bodyPr wrap="square" anchor="t" lIns="45720" rIns="45720" tIns="27432" bIns="27432">
            <a:spAutoFit/>
          </a:bodyPr>
          <a:lstStyle/>
          <a:p>
            <a:pPr algn="r">
              <a:spcAft>
                <a:spcPts val="500"/>
              </a:spcAft>
            </a:pPr>
            <a:r>
              <a:rPr sz="1100" b="1">
                <a:solidFill>
                  <a:srgbClr val="555B66"/>
                </a:solidFill>
                <a:latin typeface="Calibri"/>
              </a:rPr>
              <a:t>6</a:t>
            </a:r>
          </a:p>
        </p:txBody>
      </p:sp>
      <p:pic>
        <p:nvPicPr>
          <p:cNvPr id="8" name="Picture 7" descr="q3_fenetre_accueil.png"/>
          <p:cNvPicPr>
            <a:picLocks noChangeAspect="1"/>
          </p:cNvPicPr>
          <p:nvPr/>
        </p:nvPicPr>
        <p:blipFill>
          <a:blip r:embed="rId2"/>
          <a:stretch>
            <a:fillRect/>
          </a:stretch>
        </p:blipFill>
        <p:spPr>
          <a:xfrm>
            <a:off x="589140" y="1097280"/>
            <a:ext cx="4125238" cy="2743200"/>
          </a:xfrm>
          <a:prstGeom prst="rect">
            <a:avLst/>
          </a:prstGeom>
          <a:ln w="9525">
            <a:solidFill>
              <a:srgbClr val="C4CAD4"/>
            </a:solidFill>
          </a:ln>
        </p:spPr>
      </p:pic>
      <p:sp>
        <p:nvSpPr>
          <p:cNvPr id="9" name="TextBox 8"/>
          <p:cNvSpPr txBox="1"/>
          <p:nvPr/>
        </p:nvSpPr>
        <p:spPr>
          <a:xfrm>
            <a:off x="274320" y="3858768"/>
            <a:ext cx="4754880" cy="274320"/>
          </a:xfrm>
          <a:prstGeom prst="rect">
            <a:avLst/>
          </a:prstGeom>
          <a:noFill/>
        </p:spPr>
        <p:txBody>
          <a:bodyPr wrap="square" anchor="t" lIns="45720" rIns="45720" tIns="27432" bIns="27432">
            <a:spAutoFit/>
          </a:bodyPr>
          <a:lstStyle/>
          <a:p>
            <a:pPr algn="ctr">
              <a:spcAft>
                <a:spcPts val="500"/>
              </a:spcAft>
            </a:pPr>
            <a:r>
              <a:rPr sz="1000" b="0" i="1">
                <a:solidFill>
                  <a:srgbClr val="555B66"/>
                </a:solidFill>
                <a:latin typeface="Calibri"/>
              </a:rPr>
              <a:t>Capture 5 — page 1 : accueil (une carte par restaurant, notre livreur)</a:t>
            </a:r>
          </a:p>
        </p:txBody>
      </p:sp>
      <p:pic>
        <p:nvPicPr>
          <p:cNvPr id="10" name="Picture 9" descr="q3_fenetre_commande.png"/>
          <p:cNvPicPr>
            <a:picLocks noChangeAspect="1"/>
          </p:cNvPicPr>
          <p:nvPr/>
        </p:nvPicPr>
        <p:blipFill>
          <a:blip r:embed="rId3"/>
          <a:stretch>
            <a:fillRect/>
          </a:stretch>
        </p:blipFill>
        <p:spPr>
          <a:xfrm>
            <a:off x="1207926" y="4206240"/>
            <a:ext cx="2887666" cy="1920240"/>
          </a:xfrm>
          <a:prstGeom prst="rect">
            <a:avLst/>
          </a:prstGeom>
          <a:ln w="9525">
            <a:solidFill>
              <a:srgbClr val="C4CAD4"/>
            </a:solidFill>
          </a:ln>
        </p:spPr>
      </p:pic>
      <p:sp>
        <p:nvSpPr>
          <p:cNvPr id="11" name="TextBox 10"/>
          <p:cNvSpPr txBox="1"/>
          <p:nvPr/>
        </p:nvSpPr>
        <p:spPr>
          <a:xfrm>
            <a:off x="274320" y="6144767"/>
            <a:ext cx="4754880" cy="274320"/>
          </a:xfrm>
          <a:prstGeom prst="rect">
            <a:avLst/>
          </a:prstGeom>
          <a:noFill/>
        </p:spPr>
        <p:txBody>
          <a:bodyPr wrap="square" anchor="t" lIns="45720" rIns="45720" tIns="27432" bIns="27432">
            <a:spAutoFit/>
          </a:bodyPr>
          <a:lstStyle/>
          <a:p>
            <a:pPr algn="ctr">
              <a:spcAft>
                <a:spcPts val="500"/>
              </a:spcAft>
            </a:pPr>
            <a:r>
              <a:rPr sz="1000" b="0" i="1">
                <a:solidFill>
                  <a:srgbClr val="555B66"/>
                </a:solidFill>
                <a:latin typeface="Calibri"/>
              </a:rPr>
              <a:t>Capture 7 — page 3 : commande</a:t>
            </a:r>
          </a:p>
        </p:txBody>
      </p:sp>
      <p:pic>
        <p:nvPicPr>
          <p:cNvPr id="12" name="Picture 11" descr="q3_fenetre_menu_yoshi.png"/>
          <p:cNvPicPr>
            <a:picLocks noChangeAspect="1"/>
          </p:cNvPicPr>
          <p:nvPr/>
        </p:nvPicPr>
        <p:blipFill>
          <a:blip r:embed="rId4"/>
          <a:stretch>
            <a:fillRect/>
          </a:stretch>
        </p:blipFill>
        <p:spPr>
          <a:xfrm>
            <a:off x="6303618" y="1097280"/>
            <a:ext cx="4537762" cy="3017520"/>
          </a:xfrm>
          <a:prstGeom prst="rect">
            <a:avLst/>
          </a:prstGeom>
          <a:ln w="9525">
            <a:solidFill>
              <a:srgbClr val="C4CAD4"/>
            </a:solidFill>
          </a:ln>
        </p:spPr>
      </p:pic>
      <p:sp>
        <p:nvSpPr>
          <p:cNvPr id="13" name="TextBox 12"/>
          <p:cNvSpPr txBox="1"/>
          <p:nvPr/>
        </p:nvSpPr>
        <p:spPr>
          <a:xfrm>
            <a:off x="5212080" y="4133088"/>
            <a:ext cx="6720840" cy="274320"/>
          </a:xfrm>
          <a:prstGeom prst="rect">
            <a:avLst/>
          </a:prstGeom>
          <a:noFill/>
        </p:spPr>
        <p:txBody>
          <a:bodyPr wrap="square" anchor="t" lIns="45720" rIns="45720" tIns="27432" bIns="27432">
            <a:spAutoFit/>
          </a:bodyPr>
          <a:lstStyle/>
          <a:p>
            <a:pPr algn="ctr">
              <a:spcAft>
                <a:spcPts val="500"/>
              </a:spcAft>
            </a:pPr>
            <a:r>
              <a:rPr sz="1000" b="0" i="1">
                <a:solidFill>
                  <a:srgbClr val="555B66"/>
                </a:solidFill>
                <a:latin typeface="Calibri"/>
              </a:rPr>
              <a:t>Capture 6 — page 2 : menu (une carte par plat) et panier</a:t>
            </a:r>
          </a:p>
        </p:txBody>
      </p:sp>
      <p:sp>
        <p:nvSpPr>
          <p:cNvPr id="14" name="TextBox 13"/>
          <p:cNvSpPr txBox="1"/>
          <p:nvPr/>
        </p:nvSpPr>
        <p:spPr>
          <a:xfrm>
            <a:off x="5303520" y="4526280"/>
            <a:ext cx="6583680" cy="1828800"/>
          </a:xfrm>
          <a:prstGeom prst="rect">
            <a:avLst/>
          </a:prstGeom>
          <a:noFill/>
        </p:spPr>
        <p:txBody>
          <a:bodyPr wrap="square" anchor="t" lIns="45720" rIns="45720" tIns="27432" bIns="27432">
            <a:spAutoFit/>
          </a:bodyPr>
          <a:lstStyle/>
          <a:p>
            <a:pPr>
              <a:spcAft>
                <a:spcPts val="500"/>
              </a:spcAft>
            </a:pPr>
            <a:r>
              <a:rPr sz="1350" b="0">
                <a:solidFill>
                  <a:srgbClr val="1B1F27"/>
                </a:solidFill>
                <a:latin typeface="Calibri"/>
              </a:rPr>
              <a:t>• Fidèle à la maquette : mêmes zones, mêmes boutons.</a:t>
            </a:r>
          </a:p>
          <a:p>
            <a:pPr>
              <a:spcAft>
                <a:spcPts val="500"/>
              </a:spcAft>
            </a:pPr>
            <a:r>
              <a:rPr sz="1350" b="0">
                <a:solidFill>
                  <a:srgbClr val="1B1F27"/>
                </a:solidFill>
                <a:latin typeface="Calibri"/>
              </a:rPr>
              <a:t>• Les cartes sont construites à partir des vrais objets Restaurant et Plat (TP3) : Yoshi Sushi, ajouté dans les données, apparaît sans toucher aux fenêtres.</a:t>
            </a:r>
          </a:p>
          <a:p>
            <a:pPr>
              <a:spcAft>
                <a:spcPts val="500"/>
              </a:spcAft>
            </a:pPr>
            <a:r>
              <a:rPr sz="1350" b="0">
                <a:solidFill>
                  <a:srgbClr val="1B1F27"/>
                </a:solidFill>
                <a:latin typeface="Calibri"/>
              </a:rPr>
              <a:t>• Charte FastBite (orange, noir, vert) regroupée dans la classe Style ; présentation inspirée des applications de livraison.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85D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9692640" cy="685800"/>
          </a:xfrm>
          <a:prstGeom prst="rect">
            <a:avLst/>
          </a:prstGeom>
          <a:noFill/>
        </p:spPr>
        <p:txBody>
          <a:bodyPr wrap="square" anchor="ctr" lIns="45720" rIns="45720" tIns="27432" bIns="27432">
            <a:spAutoFit/>
          </a:bodyPr>
          <a:lstStyle/>
          <a:p>
            <a:pPr>
              <a:spcAft>
                <a:spcPts val="500"/>
              </a:spcAft>
            </a:pPr>
            <a:r>
              <a:rPr sz="2700" b="1">
                <a:solidFill>
                  <a:srgbClr val="FFFFFF"/>
                </a:solidFill>
                <a:latin typeface="Calibri"/>
              </a:rPr>
              <a:t>Q4 — Listeners : un clic met à jour l'affichage</a:t>
            </a:r>
          </a:p>
        </p:txBody>
      </p:sp>
      <p:sp>
        <p:nvSpPr>
          <p:cNvPr id="5" name="TextBox 4"/>
          <p:cNvSpPr txBox="1"/>
          <p:nvPr/>
        </p:nvSpPr>
        <p:spPr>
          <a:xfrm>
            <a:off x="9692640" y="109728"/>
            <a:ext cx="2194560" cy="685800"/>
          </a:xfrm>
          <a:prstGeom prst="rect">
            <a:avLst/>
          </a:prstGeom>
          <a:noFill/>
        </p:spPr>
        <p:txBody>
          <a:bodyPr wrap="square" anchor="ctr" lIns="45720" rIns="45720" tIns="27432" bIns="27432">
            <a:spAutoFit/>
          </a:bodyPr>
          <a:lstStyle/>
          <a:p>
            <a:pPr algn="r">
              <a:spcAft>
                <a:spcPts val="500"/>
              </a:spcAft>
            </a:pPr>
            <a:r>
              <a:rPr sz="1400" b="0">
                <a:solidFill>
                  <a:srgbClr val="C9D6EA"/>
                </a:solidFill>
                <a:latin typeface="Calibri"/>
              </a:rPr>
              <a:t>FastBite · TP6</a:t>
            </a:r>
          </a:p>
        </p:txBody>
      </p:sp>
      <p:sp>
        <p:nvSpPr>
          <p:cNvPr id="6" name="TextBox 5"/>
          <p:cNvSpPr txBox="1"/>
          <p:nvPr/>
        </p:nvSpPr>
        <p:spPr>
          <a:xfrm>
            <a:off x="411480" y="6510528"/>
            <a:ext cx="8229600" cy="274320"/>
          </a:xfrm>
          <a:prstGeom prst="rect">
            <a:avLst/>
          </a:prstGeom>
          <a:noFill/>
        </p:spPr>
        <p:txBody>
          <a:bodyPr wrap="square" anchor="t" lIns="45720" rIns="45720" tIns="27432" bIns="27432">
            <a:spAutoFit/>
          </a:bodyPr>
          <a:lstStyle/>
          <a:p>
            <a:pPr>
              <a:spcAft>
                <a:spcPts val="500"/>
              </a:spcAft>
            </a:pPr>
            <a:r>
              <a:rPr sz="1000" b="0">
                <a:solidFill>
                  <a:srgbClr val="555B66"/>
                </a:solidFill>
                <a:latin typeface="Calibri"/>
              </a:rPr>
              <a:t>POO Java — Swing · Listeners · Exceptions · Fichiers</a:t>
            </a:r>
          </a:p>
        </p:txBody>
      </p:sp>
      <p:sp>
        <p:nvSpPr>
          <p:cNvPr id="7" name="TextBox 6"/>
          <p:cNvSpPr txBox="1"/>
          <p:nvPr/>
        </p:nvSpPr>
        <p:spPr>
          <a:xfrm>
            <a:off x="10881360" y="6510528"/>
            <a:ext cx="914400" cy="274320"/>
          </a:xfrm>
          <a:prstGeom prst="rect">
            <a:avLst/>
          </a:prstGeom>
          <a:noFill/>
        </p:spPr>
        <p:txBody>
          <a:bodyPr wrap="square" anchor="t" lIns="45720" rIns="45720" tIns="27432" bIns="27432">
            <a:spAutoFit/>
          </a:bodyPr>
          <a:lstStyle/>
          <a:p>
            <a:pPr algn="r">
              <a:spcAft>
                <a:spcPts val="500"/>
              </a:spcAft>
            </a:pPr>
            <a:r>
              <a:rPr sz="1100" b="1">
                <a:solidFill>
                  <a:srgbClr val="555B66"/>
                </a:solidFill>
                <a:latin typeface="Calibri"/>
              </a:rPr>
              <a:t>7</a:t>
            </a:r>
          </a:p>
        </p:txBody>
      </p:sp>
      <p:pic>
        <p:nvPicPr>
          <p:cNvPr id="8" name="Picture 7" descr="q4_code_listener.png"/>
          <p:cNvPicPr>
            <a:picLocks noChangeAspect="1"/>
          </p:cNvPicPr>
          <p:nvPr/>
        </p:nvPicPr>
        <p:blipFill>
          <a:blip r:embed="rId2"/>
          <a:stretch>
            <a:fillRect/>
          </a:stretch>
        </p:blipFill>
        <p:spPr>
          <a:xfrm>
            <a:off x="274320" y="1051560"/>
            <a:ext cx="6035040" cy="4138313"/>
          </a:xfrm>
          <a:prstGeom prst="rect">
            <a:avLst/>
          </a:prstGeom>
          <a:ln w="9525">
            <a:solidFill>
              <a:srgbClr val="C4CAD4"/>
            </a:solidFill>
          </a:ln>
        </p:spPr>
      </p:pic>
      <p:sp>
        <p:nvSpPr>
          <p:cNvPr id="9" name="TextBox 8"/>
          <p:cNvSpPr txBox="1"/>
          <p:nvPr/>
        </p:nvSpPr>
        <p:spPr>
          <a:xfrm>
            <a:off x="274320" y="5208161"/>
            <a:ext cx="6035040" cy="274320"/>
          </a:xfrm>
          <a:prstGeom prst="rect">
            <a:avLst/>
          </a:prstGeom>
          <a:noFill/>
        </p:spPr>
        <p:txBody>
          <a:bodyPr wrap="square" anchor="t" lIns="45720" rIns="45720" tIns="27432" bIns="27432">
            <a:spAutoFit/>
          </a:bodyPr>
          <a:lstStyle/>
          <a:p>
            <a:pPr algn="ctr">
              <a:spcAft>
                <a:spcPts val="500"/>
              </a:spcAft>
            </a:pPr>
            <a:r>
              <a:rPr sz="1000" b="0" i="1">
                <a:solidFill>
                  <a:srgbClr val="555B66"/>
                </a:solidFill>
                <a:latin typeface="Calibri"/>
              </a:rPr>
              <a:t>Capture 8 — actionPerformed + getSource, puis le traitement d'un clic</a:t>
            </a:r>
          </a:p>
        </p:txBody>
      </p:sp>
      <p:pic>
        <p:nvPicPr>
          <p:cNvPr id="10" name="Picture 9" descr="q4_listener_panier.png"/>
          <p:cNvPicPr>
            <a:picLocks noChangeAspect="1"/>
          </p:cNvPicPr>
          <p:nvPr/>
        </p:nvPicPr>
        <p:blipFill>
          <a:blip r:embed="rId3"/>
          <a:stretch>
            <a:fillRect/>
          </a:stretch>
        </p:blipFill>
        <p:spPr>
          <a:xfrm>
            <a:off x="7528107" y="1097280"/>
            <a:ext cx="3368944" cy="2240280"/>
          </a:xfrm>
          <a:prstGeom prst="rect">
            <a:avLst/>
          </a:prstGeom>
          <a:ln w="9525">
            <a:solidFill>
              <a:srgbClr val="C4CAD4"/>
            </a:solidFill>
          </a:ln>
        </p:spPr>
      </p:pic>
      <p:sp>
        <p:nvSpPr>
          <p:cNvPr id="11" name="TextBox 10"/>
          <p:cNvSpPr txBox="1"/>
          <p:nvPr/>
        </p:nvSpPr>
        <p:spPr>
          <a:xfrm>
            <a:off x="6492240" y="3355848"/>
            <a:ext cx="5440680" cy="274320"/>
          </a:xfrm>
          <a:prstGeom prst="rect">
            <a:avLst/>
          </a:prstGeom>
          <a:noFill/>
        </p:spPr>
        <p:txBody>
          <a:bodyPr wrap="square" anchor="t" lIns="45720" rIns="45720" tIns="27432" bIns="27432">
            <a:spAutoFit/>
          </a:bodyPr>
          <a:lstStyle/>
          <a:p>
            <a:pPr algn="ctr">
              <a:spcAft>
                <a:spcPts val="500"/>
              </a:spcAft>
            </a:pPr>
            <a:r>
              <a:rPr sz="1000" b="0" i="1">
                <a:solidFill>
                  <a:srgbClr val="555B66"/>
                </a:solidFill>
                <a:latin typeface="Calibri"/>
              </a:rPr>
              <a:t>Capture 9 — test : 2 clics « Ajouter » → total 14,50 €</a:t>
            </a:r>
          </a:p>
        </p:txBody>
      </p:sp>
      <p:pic>
        <p:nvPicPr>
          <p:cNvPr id="12" name="Picture 11" descr="q4_code_anonyme.png"/>
          <p:cNvPicPr>
            <a:picLocks noChangeAspect="1"/>
          </p:cNvPicPr>
          <p:nvPr/>
        </p:nvPicPr>
        <p:blipFill>
          <a:blip r:embed="rId4"/>
          <a:stretch>
            <a:fillRect/>
          </a:stretch>
        </p:blipFill>
        <p:spPr>
          <a:xfrm>
            <a:off x="6894607" y="3685032"/>
            <a:ext cx="4635944" cy="1325880"/>
          </a:xfrm>
          <a:prstGeom prst="rect">
            <a:avLst/>
          </a:prstGeom>
          <a:ln w="9525">
            <a:solidFill>
              <a:srgbClr val="C4CAD4"/>
            </a:solidFill>
          </a:ln>
        </p:spPr>
      </p:pic>
      <p:sp>
        <p:nvSpPr>
          <p:cNvPr id="13" name="TextBox 12"/>
          <p:cNvSpPr txBox="1"/>
          <p:nvPr/>
        </p:nvSpPr>
        <p:spPr>
          <a:xfrm>
            <a:off x="6492240" y="5029200"/>
            <a:ext cx="5440680" cy="274320"/>
          </a:xfrm>
          <a:prstGeom prst="rect">
            <a:avLst/>
          </a:prstGeom>
          <a:noFill/>
        </p:spPr>
        <p:txBody>
          <a:bodyPr wrap="square" anchor="t" lIns="45720" rIns="45720" tIns="27432" bIns="27432">
            <a:spAutoFit/>
          </a:bodyPr>
          <a:lstStyle/>
          <a:p>
            <a:pPr algn="ctr">
              <a:spcAft>
                <a:spcPts val="500"/>
              </a:spcAft>
            </a:pPr>
            <a:r>
              <a:rPr sz="1000" b="0" i="1">
                <a:solidFill>
                  <a:srgbClr val="555B66"/>
                </a:solidFill>
                <a:latin typeface="Calibri"/>
              </a:rPr>
              <a:t>Capture 10 — autre écriture : classe anonyme (page 3)</a:t>
            </a:r>
          </a:p>
        </p:txBody>
      </p:sp>
      <p:sp>
        <p:nvSpPr>
          <p:cNvPr id="14" name="TextBox 13"/>
          <p:cNvSpPr txBox="1"/>
          <p:nvPr/>
        </p:nvSpPr>
        <p:spPr>
          <a:xfrm>
            <a:off x="6492240" y="5330952"/>
            <a:ext cx="5440680" cy="1097280"/>
          </a:xfrm>
          <a:prstGeom prst="rect">
            <a:avLst/>
          </a:prstGeom>
          <a:noFill/>
        </p:spPr>
        <p:txBody>
          <a:bodyPr wrap="square" anchor="t" lIns="45720" rIns="45720" tIns="27432" bIns="27432">
            <a:spAutoFit/>
          </a:bodyPr>
          <a:lstStyle/>
          <a:p>
            <a:pPr>
              <a:spcAft>
                <a:spcPts val="500"/>
              </a:spcAft>
            </a:pPr>
            <a:r>
              <a:rPr sz="1200" b="0">
                <a:solidFill>
                  <a:srgbClr val="1B1F27"/>
                </a:solidFill>
                <a:latin typeface="Calibri"/>
              </a:rPr>
              <a:t>• Deux façons vues au cours 6 : la fenêtre implémente ActionListener (getSource dit quel bouton ; sa position dans la liste des boutons donne le plat), ou une classe anonyme par bouton.</a:t>
            </a:r>
          </a:p>
          <a:p>
            <a:pPr>
              <a:spcAft>
                <a:spcPts val="500"/>
              </a:spcAft>
            </a:pPr>
            <a:r>
              <a:rPr sz="1200" b="0">
                <a:solidFill>
                  <a:srgbClr val="1B1F27"/>
                </a:solidFill>
                <a:latin typeface="Calibri"/>
              </a:rPr>
              <a:t>• Le listener modifie le modèle (commande.ajouterPlat) puis rafraîchit la vue.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85D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9692640" cy="685800"/>
          </a:xfrm>
          <a:prstGeom prst="rect">
            <a:avLst/>
          </a:prstGeom>
          <a:noFill/>
        </p:spPr>
        <p:txBody>
          <a:bodyPr wrap="square" anchor="ctr" lIns="45720" rIns="45720" tIns="27432" bIns="27432">
            <a:spAutoFit/>
          </a:bodyPr>
          <a:lstStyle/>
          <a:p>
            <a:pPr>
              <a:spcAft>
                <a:spcPts val="500"/>
              </a:spcAft>
            </a:pPr>
            <a:r>
              <a:rPr sz="2700" b="1">
                <a:solidFill>
                  <a:srgbClr val="FFFFFF"/>
                </a:solidFill>
                <a:latin typeface="Calibri"/>
              </a:rPr>
              <a:t>Q4 — Les exceptions du TP5 dans l'interface</a:t>
            </a:r>
          </a:p>
        </p:txBody>
      </p:sp>
      <p:sp>
        <p:nvSpPr>
          <p:cNvPr id="5" name="TextBox 4"/>
          <p:cNvSpPr txBox="1"/>
          <p:nvPr/>
        </p:nvSpPr>
        <p:spPr>
          <a:xfrm>
            <a:off x="9692640" y="109728"/>
            <a:ext cx="2194560" cy="685800"/>
          </a:xfrm>
          <a:prstGeom prst="rect">
            <a:avLst/>
          </a:prstGeom>
          <a:noFill/>
        </p:spPr>
        <p:txBody>
          <a:bodyPr wrap="square" anchor="ctr" lIns="45720" rIns="45720" tIns="27432" bIns="27432">
            <a:spAutoFit/>
          </a:bodyPr>
          <a:lstStyle/>
          <a:p>
            <a:pPr algn="r">
              <a:spcAft>
                <a:spcPts val="500"/>
              </a:spcAft>
            </a:pPr>
            <a:r>
              <a:rPr sz="1400" b="0">
                <a:solidFill>
                  <a:srgbClr val="C9D6EA"/>
                </a:solidFill>
                <a:latin typeface="Calibri"/>
              </a:rPr>
              <a:t>FastBite · TP6</a:t>
            </a:r>
          </a:p>
        </p:txBody>
      </p:sp>
      <p:sp>
        <p:nvSpPr>
          <p:cNvPr id="6" name="TextBox 5"/>
          <p:cNvSpPr txBox="1"/>
          <p:nvPr/>
        </p:nvSpPr>
        <p:spPr>
          <a:xfrm>
            <a:off x="411480" y="6510528"/>
            <a:ext cx="8229600" cy="274320"/>
          </a:xfrm>
          <a:prstGeom prst="rect">
            <a:avLst/>
          </a:prstGeom>
          <a:noFill/>
        </p:spPr>
        <p:txBody>
          <a:bodyPr wrap="square" anchor="t" lIns="45720" rIns="45720" tIns="27432" bIns="27432">
            <a:spAutoFit/>
          </a:bodyPr>
          <a:lstStyle/>
          <a:p>
            <a:pPr>
              <a:spcAft>
                <a:spcPts val="500"/>
              </a:spcAft>
            </a:pPr>
            <a:r>
              <a:rPr sz="1000" b="0">
                <a:solidFill>
                  <a:srgbClr val="555B66"/>
                </a:solidFill>
                <a:latin typeface="Calibri"/>
              </a:rPr>
              <a:t>POO Java — Swing · Listeners · Exceptions · Fichiers</a:t>
            </a:r>
          </a:p>
        </p:txBody>
      </p:sp>
      <p:sp>
        <p:nvSpPr>
          <p:cNvPr id="7" name="TextBox 6"/>
          <p:cNvSpPr txBox="1"/>
          <p:nvPr/>
        </p:nvSpPr>
        <p:spPr>
          <a:xfrm>
            <a:off x="10881360" y="6510528"/>
            <a:ext cx="914400" cy="274320"/>
          </a:xfrm>
          <a:prstGeom prst="rect">
            <a:avLst/>
          </a:prstGeom>
          <a:noFill/>
        </p:spPr>
        <p:txBody>
          <a:bodyPr wrap="square" anchor="t" lIns="45720" rIns="45720" tIns="27432" bIns="27432">
            <a:spAutoFit/>
          </a:bodyPr>
          <a:lstStyle/>
          <a:p>
            <a:pPr algn="r">
              <a:spcAft>
                <a:spcPts val="500"/>
              </a:spcAft>
            </a:pPr>
            <a:r>
              <a:rPr sz="1100" b="1">
                <a:solidFill>
                  <a:srgbClr val="555B66"/>
                </a:solidFill>
                <a:latin typeface="Calibri"/>
              </a:rPr>
              <a:t>8</a:t>
            </a:r>
          </a:p>
        </p:txBody>
      </p:sp>
      <p:pic>
        <p:nvPicPr>
          <p:cNvPr id="8" name="Picture 7" descr="q4_code_exceptions.png"/>
          <p:cNvPicPr>
            <a:picLocks noChangeAspect="1"/>
          </p:cNvPicPr>
          <p:nvPr/>
        </p:nvPicPr>
        <p:blipFill>
          <a:blip r:embed="rId2"/>
          <a:stretch>
            <a:fillRect/>
          </a:stretch>
        </p:blipFill>
        <p:spPr>
          <a:xfrm>
            <a:off x="274320" y="1051560"/>
            <a:ext cx="6309360" cy="4081881"/>
          </a:xfrm>
          <a:prstGeom prst="rect">
            <a:avLst/>
          </a:prstGeom>
          <a:ln w="9525">
            <a:solidFill>
              <a:srgbClr val="C4CAD4"/>
            </a:solidFill>
          </a:ln>
        </p:spPr>
      </p:pic>
      <p:sp>
        <p:nvSpPr>
          <p:cNvPr id="9" name="TextBox 8"/>
          <p:cNvSpPr txBox="1"/>
          <p:nvPr/>
        </p:nvSpPr>
        <p:spPr>
          <a:xfrm>
            <a:off x="274320" y="5151729"/>
            <a:ext cx="6309360" cy="274320"/>
          </a:xfrm>
          <a:prstGeom prst="rect">
            <a:avLst/>
          </a:prstGeom>
          <a:noFill/>
        </p:spPr>
        <p:txBody>
          <a:bodyPr wrap="square" anchor="t" lIns="45720" rIns="45720" tIns="27432" bIns="27432">
            <a:spAutoFit/>
          </a:bodyPr>
          <a:lstStyle/>
          <a:p>
            <a:pPr algn="ctr">
              <a:spcAft>
                <a:spcPts val="500"/>
              </a:spcAft>
            </a:pPr>
            <a:r>
              <a:rPr sz="1000" b="0" i="1">
                <a:solidFill>
                  <a:srgbClr val="555B66"/>
                </a:solidFill>
                <a:latin typeface="Calibri"/>
              </a:rPr>
              <a:t>Capture 11 — try / catch dans les listeners : le message de l'exception va dans une boîte</a:t>
            </a:r>
          </a:p>
        </p:txBody>
      </p:sp>
      <p:pic>
        <p:nvPicPr>
          <p:cNvPr id="10" name="Picture 9" descr="q4_exc_commande_vide.png"/>
          <p:cNvPicPr>
            <a:picLocks noChangeAspect="1"/>
          </p:cNvPicPr>
          <p:nvPr/>
        </p:nvPicPr>
        <p:blipFill>
          <a:blip r:embed="rId3"/>
          <a:stretch>
            <a:fillRect/>
          </a:stretch>
        </p:blipFill>
        <p:spPr>
          <a:xfrm>
            <a:off x="8247472" y="1097280"/>
            <a:ext cx="2204535" cy="713232"/>
          </a:xfrm>
          <a:prstGeom prst="rect">
            <a:avLst/>
          </a:prstGeom>
          <a:ln w="9525">
            <a:solidFill>
              <a:srgbClr val="C4CAD4"/>
            </a:solidFill>
          </a:ln>
        </p:spPr>
      </p:pic>
      <p:sp>
        <p:nvSpPr>
          <p:cNvPr id="11" name="TextBox 10"/>
          <p:cNvSpPr txBox="1"/>
          <p:nvPr/>
        </p:nvSpPr>
        <p:spPr>
          <a:xfrm>
            <a:off x="6766560" y="1828800"/>
            <a:ext cx="5166360" cy="274320"/>
          </a:xfrm>
          <a:prstGeom prst="rect">
            <a:avLst/>
          </a:prstGeom>
          <a:noFill/>
        </p:spPr>
        <p:txBody>
          <a:bodyPr wrap="square" anchor="t" lIns="45720" rIns="45720" tIns="27432" bIns="27432">
            <a:spAutoFit/>
          </a:bodyPr>
          <a:lstStyle/>
          <a:p>
            <a:pPr algn="ctr">
              <a:spcAft>
                <a:spcPts val="500"/>
              </a:spcAft>
            </a:pPr>
            <a:r>
              <a:rPr sz="1000" b="0" i="1">
                <a:solidFill>
                  <a:srgbClr val="555B66"/>
                </a:solidFill>
                <a:latin typeface="Calibri"/>
              </a:rPr>
              <a:t>Capture 12 — Valider avec un panier vide : CommandeVideException</a:t>
            </a:r>
          </a:p>
        </p:txBody>
      </p:sp>
      <p:pic>
        <p:nvPicPr>
          <p:cNvPr id="12" name="Picture 11" descr="q4_exc_note.png"/>
          <p:cNvPicPr>
            <a:picLocks noChangeAspect="1"/>
          </p:cNvPicPr>
          <p:nvPr/>
        </p:nvPicPr>
        <p:blipFill>
          <a:blip r:embed="rId4"/>
          <a:stretch>
            <a:fillRect/>
          </a:stretch>
        </p:blipFill>
        <p:spPr>
          <a:xfrm>
            <a:off x="8247472" y="2112263"/>
            <a:ext cx="2204535" cy="713232"/>
          </a:xfrm>
          <a:prstGeom prst="rect">
            <a:avLst/>
          </a:prstGeom>
          <a:ln w="9525">
            <a:solidFill>
              <a:srgbClr val="C4CAD4"/>
            </a:solidFill>
          </a:ln>
        </p:spPr>
      </p:pic>
      <p:sp>
        <p:nvSpPr>
          <p:cNvPr id="13" name="TextBox 12"/>
          <p:cNvSpPr txBox="1"/>
          <p:nvPr/>
        </p:nvSpPr>
        <p:spPr>
          <a:xfrm>
            <a:off x="6766560" y="2843784"/>
            <a:ext cx="5166360" cy="274320"/>
          </a:xfrm>
          <a:prstGeom prst="rect">
            <a:avLst/>
          </a:prstGeom>
          <a:noFill/>
        </p:spPr>
        <p:txBody>
          <a:bodyPr wrap="square" anchor="t" lIns="45720" rIns="45720" tIns="27432" bIns="27432">
            <a:spAutoFit/>
          </a:bodyPr>
          <a:lstStyle/>
          <a:p>
            <a:pPr algn="ctr">
              <a:spcAft>
                <a:spcPts val="500"/>
              </a:spcAft>
            </a:pPr>
            <a:r>
              <a:rPr sz="1000" b="0" i="1">
                <a:solidFill>
                  <a:srgbClr val="555B66"/>
                </a:solidFill>
                <a:latin typeface="Calibri"/>
              </a:rPr>
              <a:t>Capture 13 — note 7 : NoteInvalideException</a:t>
            </a:r>
          </a:p>
        </p:txBody>
      </p:sp>
      <p:pic>
        <p:nvPicPr>
          <p:cNvPr id="14" name="Picture 13" descr="q4_exc_paiement.png"/>
          <p:cNvPicPr>
            <a:picLocks noChangeAspect="1"/>
          </p:cNvPicPr>
          <p:nvPr/>
        </p:nvPicPr>
        <p:blipFill>
          <a:blip r:embed="rId5"/>
          <a:stretch>
            <a:fillRect/>
          </a:stretch>
        </p:blipFill>
        <p:spPr>
          <a:xfrm>
            <a:off x="8339328" y="3127247"/>
            <a:ext cx="2020824" cy="713232"/>
          </a:xfrm>
          <a:prstGeom prst="rect">
            <a:avLst/>
          </a:prstGeom>
          <a:ln w="9525">
            <a:solidFill>
              <a:srgbClr val="C4CAD4"/>
            </a:solidFill>
          </a:ln>
        </p:spPr>
      </p:pic>
      <p:sp>
        <p:nvSpPr>
          <p:cNvPr id="15" name="TextBox 14"/>
          <p:cNvSpPr txBox="1"/>
          <p:nvPr/>
        </p:nvSpPr>
        <p:spPr>
          <a:xfrm>
            <a:off x="6766560" y="3858767"/>
            <a:ext cx="5166360" cy="274320"/>
          </a:xfrm>
          <a:prstGeom prst="rect">
            <a:avLst/>
          </a:prstGeom>
          <a:noFill/>
        </p:spPr>
        <p:txBody>
          <a:bodyPr wrap="square" anchor="t" lIns="45720" rIns="45720" tIns="27432" bIns="27432">
            <a:spAutoFit/>
          </a:bodyPr>
          <a:lstStyle/>
          <a:p>
            <a:pPr algn="ctr">
              <a:spcAft>
                <a:spcPts val="500"/>
              </a:spcAft>
            </a:pPr>
            <a:r>
              <a:rPr sz="1000" b="0" i="1">
                <a:solidFill>
                  <a:srgbClr val="555B66"/>
                </a:solidFill>
                <a:latin typeface="Calibri"/>
              </a:rPr>
              <a:t>Capture 14 — 2e clic sur Payer : PaiementImpossibleException</a:t>
            </a:r>
          </a:p>
        </p:txBody>
      </p:sp>
      <p:pic>
        <p:nvPicPr>
          <p:cNvPr id="16" name="Picture 15" descr="q4_exc_livreur.png"/>
          <p:cNvPicPr>
            <a:picLocks noChangeAspect="1"/>
          </p:cNvPicPr>
          <p:nvPr/>
        </p:nvPicPr>
        <p:blipFill>
          <a:blip r:embed="rId6"/>
          <a:stretch>
            <a:fillRect/>
          </a:stretch>
        </p:blipFill>
        <p:spPr>
          <a:xfrm>
            <a:off x="8247472" y="4142231"/>
            <a:ext cx="2204535" cy="713232"/>
          </a:xfrm>
          <a:prstGeom prst="rect">
            <a:avLst/>
          </a:prstGeom>
          <a:ln w="9525">
            <a:solidFill>
              <a:srgbClr val="C4CAD4"/>
            </a:solidFill>
          </a:ln>
        </p:spPr>
      </p:pic>
      <p:sp>
        <p:nvSpPr>
          <p:cNvPr id="17" name="TextBox 16"/>
          <p:cNvSpPr txBox="1"/>
          <p:nvPr/>
        </p:nvSpPr>
        <p:spPr>
          <a:xfrm>
            <a:off x="6766560" y="4873751"/>
            <a:ext cx="5166360" cy="274320"/>
          </a:xfrm>
          <a:prstGeom prst="rect">
            <a:avLst/>
          </a:prstGeom>
          <a:noFill/>
        </p:spPr>
        <p:txBody>
          <a:bodyPr wrap="square" anchor="t" lIns="45720" rIns="45720" tIns="27432" bIns="27432">
            <a:spAutoFit/>
          </a:bodyPr>
          <a:lstStyle/>
          <a:p>
            <a:pPr algn="ctr">
              <a:spcAft>
                <a:spcPts val="500"/>
              </a:spcAft>
            </a:pPr>
            <a:r>
              <a:rPr sz="1000" b="0" i="1">
                <a:solidFill>
                  <a:srgbClr val="555B66"/>
                </a:solidFill>
                <a:latin typeface="Calibri"/>
              </a:rPr>
              <a:t>Capture 14 bis — 2e commande pendant une livraison : LivreurIndisponibleException</a:t>
            </a:r>
          </a:p>
        </p:txBody>
      </p:sp>
      <p:sp>
        <p:nvSpPr>
          <p:cNvPr id="18" name="TextBox 17"/>
          <p:cNvSpPr txBox="1"/>
          <p:nvPr/>
        </p:nvSpPr>
        <p:spPr>
          <a:xfrm>
            <a:off x="6766560" y="5157216"/>
            <a:ext cx="5166360" cy="1188720"/>
          </a:xfrm>
          <a:prstGeom prst="rect">
            <a:avLst/>
          </a:prstGeom>
          <a:noFill/>
        </p:spPr>
        <p:txBody>
          <a:bodyPr wrap="square" anchor="t" lIns="45720" rIns="45720" tIns="27432" bIns="27432">
            <a:spAutoFit/>
          </a:bodyPr>
          <a:lstStyle/>
          <a:p>
            <a:pPr>
              <a:spcAft>
                <a:spcPts val="500"/>
              </a:spcAft>
            </a:pPr>
            <a:r>
              <a:rPr sz="1250" b="0">
                <a:solidFill>
                  <a:srgbClr val="1B1F27"/>
                </a:solidFill>
                <a:latin typeface="Calibri"/>
              </a:rPr>
              <a:t>• Les classes métier lèvent ou propagent (TP5) ; c'est le listener qui attrape et affiche.</a:t>
            </a:r>
          </a:p>
          <a:p>
            <a:pPr>
              <a:spcAft>
                <a:spcPts val="500"/>
              </a:spcAft>
            </a:pPr>
            <a:r>
              <a:rPr sz="1250" b="0">
                <a:solidFill>
                  <a:srgbClr val="1B1F27"/>
                </a:solidFill>
                <a:latin typeface="Calibri"/>
              </a:rPr>
              <a:t>• Après une erreur, la fenêtre reste utilisable et les données sont intactes.</a:t>
            </a:r>
          </a:p>
          <a:p>
            <a:pPr>
              <a:spcAft>
                <a:spcPts val="500"/>
              </a:spcAft>
            </a:pPr>
            <a:r>
              <a:rPr sz="1250" b="0">
                <a:solidFill>
                  <a:srgbClr val="1B1F27"/>
                </a:solidFill>
                <a:latin typeface="Calibri"/>
              </a:rPr>
              <a:t>• Nouveau cas : NumberFormatException si le champ ne contient pas un nombre.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85D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9692640" cy="685800"/>
          </a:xfrm>
          <a:prstGeom prst="rect">
            <a:avLst/>
          </a:prstGeom>
          <a:noFill/>
        </p:spPr>
        <p:txBody>
          <a:bodyPr wrap="square" anchor="ctr" lIns="45720" rIns="45720" tIns="27432" bIns="27432">
            <a:spAutoFit/>
          </a:bodyPr>
          <a:lstStyle/>
          <a:p>
            <a:pPr>
              <a:spcAft>
                <a:spcPts val="500"/>
              </a:spcAft>
            </a:pPr>
            <a:r>
              <a:rPr sz="2700" b="1">
                <a:solidFill>
                  <a:srgbClr val="FFFFFF"/>
                </a:solidFill>
                <a:latin typeface="Calibri"/>
              </a:rPr>
              <a:t>Q4 — Fichier texte et sérialisation depuis l'interface</a:t>
            </a:r>
          </a:p>
        </p:txBody>
      </p:sp>
      <p:sp>
        <p:nvSpPr>
          <p:cNvPr id="5" name="TextBox 4"/>
          <p:cNvSpPr txBox="1"/>
          <p:nvPr/>
        </p:nvSpPr>
        <p:spPr>
          <a:xfrm>
            <a:off x="9692640" y="109728"/>
            <a:ext cx="2194560" cy="685800"/>
          </a:xfrm>
          <a:prstGeom prst="rect">
            <a:avLst/>
          </a:prstGeom>
          <a:noFill/>
        </p:spPr>
        <p:txBody>
          <a:bodyPr wrap="square" anchor="ctr" lIns="45720" rIns="45720" tIns="27432" bIns="27432">
            <a:spAutoFit/>
          </a:bodyPr>
          <a:lstStyle/>
          <a:p>
            <a:pPr algn="r">
              <a:spcAft>
                <a:spcPts val="500"/>
              </a:spcAft>
            </a:pPr>
            <a:r>
              <a:rPr sz="1400" b="0">
                <a:solidFill>
                  <a:srgbClr val="C9D6EA"/>
                </a:solidFill>
                <a:latin typeface="Calibri"/>
              </a:rPr>
              <a:t>FastBite · TP6</a:t>
            </a:r>
          </a:p>
        </p:txBody>
      </p:sp>
      <p:sp>
        <p:nvSpPr>
          <p:cNvPr id="6" name="TextBox 5"/>
          <p:cNvSpPr txBox="1"/>
          <p:nvPr/>
        </p:nvSpPr>
        <p:spPr>
          <a:xfrm>
            <a:off x="411480" y="6510528"/>
            <a:ext cx="8229600" cy="274320"/>
          </a:xfrm>
          <a:prstGeom prst="rect">
            <a:avLst/>
          </a:prstGeom>
          <a:noFill/>
        </p:spPr>
        <p:txBody>
          <a:bodyPr wrap="square" anchor="t" lIns="45720" rIns="45720" tIns="27432" bIns="27432">
            <a:spAutoFit/>
          </a:bodyPr>
          <a:lstStyle/>
          <a:p>
            <a:pPr>
              <a:spcAft>
                <a:spcPts val="500"/>
              </a:spcAft>
            </a:pPr>
            <a:r>
              <a:rPr sz="1000" b="0">
                <a:solidFill>
                  <a:srgbClr val="555B66"/>
                </a:solidFill>
                <a:latin typeface="Calibri"/>
              </a:rPr>
              <a:t>POO Java — Swing · Listeners · Exceptions · Fichiers</a:t>
            </a:r>
          </a:p>
        </p:txBody>
      </p:sp>
      <p:sp>
        <p:nvSpPr>
          <p:cNvPr id="7" name="TextBox 6"/>
          <p:cNvSpPr txBox="1"/>
          <p:nvPr/>
        </p:nvSpPr>
        <p:spPr>
          <a:xfrm>
            <a:off x="10881360" y="6510528"/>
            <a:ext cx="914400" cy="274320"/>
          </a:xfrm>
          <a:prstGeom prst="rect">
            <a:avLst/>
          </a:prstGeom>
          <a:noFill/>
        </p:spPr>
        <p:txBody>
          <a:bodyPr wrap="square" anchor="t" lIns="45720" rIns="45720" tIns="27432" bIns="27432">
            <a:spAutoFit/>
          </a:bodyPr>
          <a:lstStyle/>
          <a:p>
            <a:pPr algn="r">
              <a:spcAft>
                <a:spcPts val="500"/>
              </a:spcAft>
            </a:pPr>
            <a:r>
              <a:rPr sz="1100" b="1">
                <a:solidFill>
                  <a:srgbClr val="555B66"/>
                </a:solidFill>
                <a:latin typeface="Calibri"/>
              </a:rPr>
              <a:t>9</a:t>
            </a:r>
          </a:p>
        </p:txBody>
      </p:sp>
      <p:pic>
        <p:nvPicPr>
          <p:cNvPr id="8" name="Picture 7" descr="q4_code_fichiers.png"/>
          <p:cNvPicPr>
            <a:picLocks noChangeAspect="1"/>
          </p:cNvPicPr>
          <p:nvPr/>
        </p:nvPicPr>
        <p:blipFill>
          <a:blip r:embed="rId2"/>
          <a:stretch>
            <a:fillRect/>
          </a:stretch>
        </p:blipFill>
        <p:spPr>
          <a:xfrm>
            <a:off x="743551" y="1051560"/>
            <a:ext cx="5005136" cy="3566160"/>
          </a:xfrm>
          <a:prstGeom prst="rect">
            <a:avLst/>
          </a:prstGeom>
          <a:ln w="9525">
            <a:solidFill>
              <a:srgbClr val="C4CAD4"/>
            </a:solidFill>
          </a:ln>
        </p:spPr>
      </p:pic>
      <p:sp>
        <p:nvSpPr>
          <p:cNvPr id="9" name="TextBox 8"/>
          <p:cNvSpPr txBox="1"/>
          <p:nvPr/>
        </p:nvSpPr>
        <p:spPr>
          <a:xfrm>
            <a:off x="274320" y="4636008"/>
            <a:ext cx="5943600" cy="274320"/>
          </a:xfrm>
          <a:prstGeom prst="rect">
            <a:avLst/>
          </a:prstGeom>
          <a:noFill/>
        </p:spPr>
        <p:txBody>
          <a:bodyPr wrap="square" anchor="t" lIns="45720" rIns="45720" tIns="27432" bIns="27432">
            <a:spAutoFit/>
          </a:bodyPr>
          <a:lstStyle/>
          <a:p>
            <a:pPr algn="ctr">
              <a:spcAft>
                <a:spcPts val="500"/>
              </a:spcAft>
            </a:pPr>
            <a:r>
              <a:rPr sz="1000" b="0" i="1">
                <a:solidFill>
                  <a:srgbClr val="555B66"/>
                </a:solidFill>
                <a:latin typeface="Calibri"/>
              </a:rPr>
              <a:t>Capture 15 — chargerMenu (.txt) et charger (.ser) : appel des méthodes du TP5 + catch</a:t>
            </a:r>
          </a:p>
        </p:txBody>
      </p:sp>
      <p:pic>
        <p:nvPicPr>
          <p:cNvPr id="10" name="Picture 9" descr="q4_fichier_txt.png"/>
          <p:cNvPicPr>
            <a:picLocks noChangeAspect="1"/>
          </p:cNvPicPr>
          <p:nvPr/>
        </p:nvPicPr>
        <p:blipFill>
          <a:blip r:embed="rId3"/>
          <a:stretch>
            <a:fillRect/>
          </a:stretch>
        </p:blipFill>
        <p:spPr>
          <a:xfrm>
            <a:off x="1665375" y="4937760"/>
            <a:ext cx="3161489" cy="594359"/>
          </a:xfrm>
          <a:prstGeom prst="rect">
            <a:avLst/>
          </a:prstGeom>
          <a:ln w="9525">
            <a:solidFill>
              <a:srgbClr val="C4CAD4"/>
            </a:solidFill>
          </a:ln>
        </p:spPr>
      </p:pic>
      <p:sp>
        <p:nvSpPr>
          <p:cNvPr id="11" name="TextBox 10"/>
          <p:cNvSpPr txBox="1"/>
          <p:nvPr/>
        </p:nvSpPr>
        <p:spPr>
          <a:xfrm>
            <a:off x="274320" y="5550408"/>
            <a:ext cx="5943600" cy="274320"/>
          </a:xfrm>
          <a:prstGeom prst="rect">
            <a:avLst/>
          </a:prstGeom>
          <a:noFill/>
        </p:spPr>
        <p:txBody>
          <a:bodyPr wrap="square" anchor="t" lIns="45720" rIns="45720" tIns="27432" bIns="27432">
            <a:spAutoFit/>
          </a:bodyPr>
          <a:lstStyle/>
          <a:p>
            <a:pPr algn="ctr">
              <a:spcAft>
                <a:spcPts val="500"/>
              </a:spcAft>
            </a:pPr>
            <a:r>
              <a:rPr sz="1000" b="0" i="1">
                <a:solidFill>
                  <a:srgbClr val="555B66"/>
                </a:solidFill>
                <a:latin typeface="Calibri"/>
              </a:rPr>
              <a:t>Capture 16 — data/menu_chez_mario.txt écrit par le bouton « Enregistrer »</a:t>
            </a:r>
          </a:p>
        </p:txBody>
      </p:sp>
      <p:pic>
        <p:nvPicPr>
          <p:cNvPr id="12" name="Picture 11" descr="q4_ser_charge.png"/>
          <p:cNvPicPr>
            <a:picLocks noChangeAspect="1"/>
          </p:cNvPicPr>
          <p:nvPr/>
        </p:nvPicPr>
        <p:blipFill>
          <a:blip r:embed="rId4"/>
          <a:stretch>
            <a:fillRect/>
          </a:stretch>
        </p:blipFill>
        <p:spPr>
          <a:xfrm>
            <a:off x="6568509" y="1097280"/>
            <a:ext cx="2956420" cy="1965960"/>
          </a:xfrm>
          <a:prstGeom prst="rect">
            <a:avLst/>
          </a:prstGeom>
          <a:ln w="9525">
            <a:solidFill>
              <a:srgbClr val="C4CAD4"/>
            </a:solidFill>
          </a:ln>
        </p:spPr>
      </p:pic>
      <p:sp>
        <p:nvSpPr>
          <p:cNvPr id="13" name="TextBox 12"/>
          <p:cNvSpPr txBox="1"/>
          <p:nvPr/>
        </p:nvSpPr>
        <p:spPr>
          <a:xfrm>
            <a:off x="6400800" y="3081528"/>
            <a:ext cx="3291840" cy="274320"/>
          </a:xfrm>
          <a:prstGeom prst="rect">
            <a:avLst/>
          </a:prstGeom>
          <a:noFill/>
        </p:spPr>
        <p:txBody>
          <a:bodyPr wrap="square" anchor="t" lIns="45720" rIns="45720" tIns="27432" bIns="27432">
            <a:spAutoFit/>
          </a:bodyPr>
          <a:lstStyle/>
          <a:p>
            <a:pPr algn="ctr">
              <a:spcAft>
                <a:spcPts val="500"/>
              </a:spcAft>
            </a:pPr>
            <a:r>
              <a:rPr sz="1000" b="0" i="1">
                <a:solidFill>
                  <a:srgbClr val="555B66"/>
                </a:solidFill>
                <a:latin typeface="Calibri"/>
              </a:rPr>
              <a:t>Capture 17 — après « Charger (.ser) »</a:t>
            </a:r>
          </a:p>
        </p:txBody>
      </p:sp>
      <p:pic>
        <p:nvPicPr>
          <p:cNvPr id="14" name="Picture 13" descr="q4_fichier_ser.png"/>
          <p:cNvPicPr>
            <a:picLocks noChangeAspect="1"/>
          </p:cNvPicPr>
          <p:nvPr/>
        </p:nvPicPr>
        <p:blipFill>
          <a:blip r:embed="rId5"/>
          <a:stretch>
            <a:fillRect/>
          </a:stretch>
        </p:blipFill>
        <p:spPr>
          <a:xfrm>
            <a:off x="9784080" y="1097280"/>
            <a:ext cx="2194560" cy="904158"/>
          </a:xfrm>
          <a:prstGeom prst="rect">
            <a:avLst/>
          </a:prstGeom>
          <a:ln w="9525">
            <a:solidFill>
              <a:srgbClr val="C4CAD4"/>
            </a:solidFill>
          </a:ln>
        </p:spPr>
      </p:pic>
      <p:sp>
        <p:nvSpPr>
          <p:cNvPr id="15" name="TextBox 14"/>
          <p:cNvSpPr txBox="1"/>
          <p:nvPr/>
        </p:nvSpPr>
        <p:spPr>
          <a:xfrm>
            <a:off x="9784080" y="2019726"/>
            <a:ext cx="2194560" cy="274320"/>
          </a:xfrm>
          <a:prstGeom prst="rect">
            <a:avLst/>
          </a:prstGeom>
          <a:noFill/>
        </p:spPr>
        <p:txBody>
          <a:bodyPr wrap="square" anchor="t" lIns="45720" rIns="45720" tIns="27432" bIns="27432">
            <a:spAutoFit/>
          </a:bodyPr>
          <a:lstStyle/>
          <a:p>
            <a:pPr algn="ctr">
              <a:spcAft>
                <a:spcPts val="500"/>
              </a:spcAft>
            </a:pPr>
            <a:r>
              <a:rPr sz="1000" b="0" i="1">
                <a:solidFill>
                  <a:srgbClr val="555B66"/>
                </a:solidFill>
                <a:latin typeface="Calibri"/>
              </a:rPr>
              <a:t>Capture 18 — le .ser (binaire)</a:t>
            </a:r>
          </a:p>
        </p:txBody>
      </p:sp>
      <p:pic>
        <p:nvPicPr>
          <p:cNvPr id="16" name="Picture 15" descr="q4_exc_fichier.png"/>
          <p:cNvPicPr>
            <a:picLocks noChangeAspect="1"/>
          </p:cNvPicPr>
          <p:nvPr/>
        </p:nvPicPr>
        <p:blipFill>
          <a:blip r:embed="rId6"/>
          <a:stretch>
            <a:fillRect/>
          </a:stretch>
        </p:blipFill>
        <p:spPr>
          <a:xfrm>
            <a:off x="7936230" y="3447288"/>
            <a:ext cx="2461260" cy="868680"/>
          </a:xfrm>
          <a:prstGeom prst="rect">
            <a:avLst/>
          </a:prstGeom>
          <a:ln w="9525">
            <a:solidFill>
              <a:srgbClr val="C4CAD4"/>
            </a:solidFill>
          </a:ln>
        </p:spPr>
      </p:pic>
      <p:sp>
        <p:nvSpPr>
          <p:cNvPr id="17" name="TextBox 16"/>
          <p:cNvSpPr txBox="1"/>
          <p:nvPr/>
        </p:nvSpPr>
        <p:spPr>
          <a:xfrm>
            <a:off x="6400800" y="4334256"/>
            <a:ext cx="5532120" cy="274320"/>
          </a:xfrm>
          <a:prstGeom prst="rect">
            <a:avLst/>
          </a:prstGeom>
          <a:noFill/>
        </p:spPr>
        <p:txBody>
          <a:bodyPr wrap="square" anchor="t" lIns="45720" rIns="45720" tIns="27432" bIns="27432">
            <a:spAutoFit/>
          </a:bodyPr>
          <a:lstStyle/>
          <a:p>
            <a:pPr algn="ctr">
              <a:spcAft>
                <a:spcPts val="500"/>
              </a:spcAft>
            </a:pPr>
            <a:r>
              <a:rPr sz="1000" b="0" i="1">
                <a:solidFill>
                  <a:srgbClr val="555B66"/>
                </a:solidFill>
                <a:latin typeface="Calibri"/>
              </a:rPr>
              <a:t>Capture 19 — fichier .txt mal formé : FormatFichierException</a:t>
            </a:r>
          </a:p>
        </p:txBody>
      </p:sp>
      <p:pic>
        <p:nvPicPr>
          <p:cNvPr id="18" name="Picture 17" descr="q4_exc_ser.png"/>
          <p:cNvPicPr>
            <a:picLocks noChangeAspect="1"/>
          </p:cNvPicPr>
          <p:nvPr/>
        </p:nvPicPr>
        <p:blipFill>
          <a:blip r:embed="rId7"/>
          <a:stretch>
            <a:fillRect/>
          </a:stretch>
        </p:blipFill>
        <p:spPr>
          <a:xfrm>
            <a:off x="7895012" y="4663440"/>
            <a:ext cx="2543694" cy="822959"/>
          </a:xfrm>
          <a:prstGeom prst="rect">
            <a:avLst/>
          </a:prstGeom>
          <a:ln w="9525">
            <a:solidFill>
              <a:srgbClr val="C4CAD4"/>
            </a:solidFill>
          </a:ln>
        </p:spPr>
      </p:pic>
      <p:sp>
        <p:nvSpPr>
          <p:cNvPr id="19" name="TextBox 18"/>
          <p:cNvSpPr txBox="1"/>
          <p:nvPr/>
        </p:nvSpPr>
        <p:spPr>
          <a:xfrm>
            <a:off x="6400800" y="5504688"/>
            <a:ext cx="5532120" cy="274320"/>
          </a:xfrm>
          <a:prstGeom prst="rect">
            <a:avLst/>
          </a:prstGeom>
          <a:noFill/>
        </p:spPr>
        <p:txBody>
          <a:bodyPr wrap="square" anchor="t" lIns="45720" rIns="45720" tIns="27432" bIns="27432">
            <a:spAutoFit/>
          </a:bodyPr>
          <a:lstStyle/>
          <a:p>
            <a:pPr algn="ctr">
              <a:spcAft>
                <a:spcPts val="500"/>
              </a:spcAft>
            </a:pPr>
            <a:r>
              <a:rPr sz="1000" b="0" i="1">
                <a:solidFill>
                  <a:srgbClr val="555B66"/>
                </a:solidFill>
                <a:latin typeface="Calibri"/>
              </a:rPr>
              <a:t>Capture 20 — fichier .ser corrompu : IOException</a:t>
            </a:r>
          </a:p>
        </p:txBody>
      </p:sp>
      <p:sp>
        <p:nvSpPr>
          <p:cNvPr id="20" name="TextBox 19"/>
          <p:cNvSpPr txBox="1"/>
          <p:nvPr/>
        </p:nvSpPr>
        <p:spPr>
          <a:xfrm>
            <a:off x="6400800" y="5779007"/>
            <a:ext cx="5532120" cy="731520"/>
          </a:xfrm>
          <a:prstGeom prst="rect">
            <a:avLst/>
          </a:prstGeom>
          <a:noFill/>
        </p:spPr>
        <p:txBody>
          <a:bodyPr wrap="square" anchor="t" lIns="45720" rIns="45720" tIns="27432" bIns="27432">
            <a:spAutoFit/>
          </a:bodyPr>
          <a:lstStyle/>
          <a:p>
            <a:pPr>
              <a:spcAft>
                <a:spcPts val="500"/>
              </a:spcAft>
            </a:pPr>
            <a:r>
              <a:rPr sz="1150" b="0">
                <a:solidFill>
                  <a:srgbClr val="1B1F27"/>
                </a:solidFill>
                <a:latin typeface="Calibri"/>
              </a:rPr>
              <a:t>• Le menu est lu dans un restaurant neuf : si le fichier est faux, l'écran n'est pas modifié.</a:t>
            </a:r>
          </a:p>
          <a:p>
            <a:pPr>
              <a:spcAft>
                <a:spcPts val="500"/>
              </a:spcAft>
            </a:pPr>
            <a:r>
              <a:rPr sz="1150" b="0">
                <a:solidFill>
                  <a:srgbClr val="1B1F27"/>
                </a:solidFill>
                <a:latin typeface="Calibri"/>
              </a:rPr>
              <a:t>• Test : accueil vidé puis « Charger » → 3 restaurants, menus et note 4,5 retrouvés.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85D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9692640" cy="685800"/>
          </a:xfrm>
          <a:prstGeom prst="rect">
            <a:avLst/>
          </a:prstGeom>
          <a:noFill/>
        </p:spPr>
        <p:txBody>
          <a:bodyPr wrap="square" anchor="ctr" lIns="45720" rIns="45720" tIns="27432" bIns="27432">
            <a:spAutoFit/>
          </a:bodyPr>
          <a:lstStyle/>
          <a:p>
            <a:pPr>
              <a:spcAft>
                <a:spcPts val="500"/>
              </a:spcAft>
            </a:pPr>
            <a:r>
              <a:rPr sz="2700" b="1">
                <a:solidFill>
                  <a:srgbClr val="FFFFFF"/>
                </a:solidFill>
                <a:latin typeface="Calibri"/>
              </a:rPr>
              <a:t>Bilan, sources et IA</a:t>
            </a:r>
          </a:p>
        </p:txBody>
      </p:sp>
      <p:sp>
        <p:nvSpPr>
          <p:cNvPr id="5" name="TextBox 4"/>
          <p:cNvSpPr txBox="1"/>
          <p:nvPr/>
        </p:nvSpPr>
        <p:spPr>
          <a:xfrm>
            <a:off x="9692640" y="109728"/>
            <a:ext cx="2194560" cy="685800"/>
          </a:xfrm>
          <a:prstGeom prst="rect">
            <a:avLst/>
          </a:prstGeom>
          <a:noFill/>
        </p:spPr>
        <p:txBody>
          <a:bodyPr wrap="square" anchor="ctr" lIns="45720" rIns="45720" tIns="27432" bIns="27432">
            <a:spAutoFit/>
          </a:bodyPr>
          <a:lstStyle/>
          <a:p>
            <a:pPr algn="r">
              <a:spcAft>
                <a:spcPts val="500"/>
              </a:spcAft>
            </a:pPr>
            <a:r>
              <a:rPr sz="1400" b="0">
                <a:solidFill>
                  <a:srgbClr val="C9D6EA"/>
                </a:solidFill>
                <a:latin typeface="Calibri"/>
              </a:rPr>
              <a:t>FastBite · TP6</a:t>
            </a:r>
          </a:p>
        </p:txBody>
      </p:sp>
      <p:sp>
        <p:nvSpPr>
          <p:cNvPr id="6" name="TextBox 5"/>
          <p:cNvSpPr txBox="1"/>
          <p:nvPr/>
        </p:nvSpPr>
        <p:spPr>
          <a:xfrm>
            <a:off x="411480" y="6510528"/>
            <a:ext cx="8229600" cy="274320"/>
          </a:xfrm>
          <a:prstGeom prst="rect">
            <a:avLst/>
          </a:prstGeom>
          <a:noFill/>
        </p:spPr>
        <p:txBody>
          <a:bodyPr wrap="square" anchor="t" lIns="45720" rIns="45720" tIns="27432" bIns="27432">
            <a:spAutoFit/>
          </a:bodyPr>
          <a:lstStyle/>
          <a:p>
            <a:pPr>
              <a:spcAft>
                <a:spcPts val="500"/>
              </a:spcAft>
            </a:pPr>
            <a:r>
              <a:rPr sz="1000" b="0">
                <a:solidFill>
                  <a:srgbClr val="555B66"/>
                </a:solidFill>
                <a:latin typeface="Calibri"/>
              </a:rPr>
              <a:t>POO Java — Swing · Listeners · Exceptions · Fichiers</a:t>
            </a:r>
          </a:p>
        </p:txBody>
      </p:sp>
      <p:sp>
        <p:nvSpPr>
          <p:cNvPr id="7" name="TextBox 6"/>
          <p:cNvSpPr txBox="1"/>
          <p:nvPr/>
        </p:nvSpPr>
        <p:spPr>
          <a:xfrm>
            <a:off x="10881360" y="6510528"/>
            <a:ext cx="914400" cy="274320"/>
          </a:xfrm>
          <a:prstGeom prst="rect">
            <a:avLst/>
          </a:prstGeom>
          <a:noFill/>
        </p:spPr>
        <p:txBody>
          <a:bodyPr wrap="square" anchor="t" lIns="45720" rIns="45720" tIns="27432" bIns="27432">
            <a:spAutoFit/>
          </a:bodyPr>
          <a:lstStyle/>
          <a:p>
            <a:pPr algn="r">
              <a:spcAft>
                <a:spcPts val="500"/>
              </a:spcAft>
            </a:pPr>
            <a:r>
              <a:rPr sz="1100" b="1">
                <a:solidFill>
                  <a:srgbClr val="555B66"/>
                </a:solidFill>
                <a:latin typeface="Calibri"/>
              </a:rPr>
              <a:t>10</a:t>
            </a:r>
          </a:p>
        </p:txBody>
      </p:sp>
      <p:sp>
        <p:nvSpPr>
          <p:cNvPr id="8" name="TextBox 7"/>
          <p:cNvSpPr txBox="1"/>
          <p:nvPr/>
        </p:nvSpPr>
        <p:spPr>
          <a:xfrm>
            <a:off x="365760" y="1097280"/>
            <a:ext cx="5760720" cy="5303520"/>
          </a:xfrm>
          <a:prstGeom prst="rect">
            <a:avLst/>
          </a:prstGeom>
          <a:noFill/>
        </p:spPr>
        <p:txBody>
          <a:bodyPr wrap="square" anchor="t" lIns="45720" rIns="45720" tIns="27432" bIns="27432">
            <a:spAutoFit/>
          </a:bodyPr>
          <a:lstStyle/>
          <a:p>
            <a:pPr>
              <a:spcAft>
                <a:spcPts val="500"/>
              </a:spcAft>
            </a:pPr>
            <a:r>
              <a:rPr sz="2200" b="1">
                <a:solidFill>
                  <a:srgbClr val="1F3A5F"/>
                </a:solidFill>
                <a:latin typeface="Calibri"/>
              </a:rPr>
              <a:t>Bilan</a:t>
            </a:r>
          </a:p>
          <a:p>
            <a:pPr>
              <a:spcAft>
                <a:spcPts val="500"/>
              </a:spcAft>
            </a:pPr>
            <a:r>
              <a:rPr sz="1500" b="0">
                <a:solidFill>
                  <a:srgbClr val="1B1F27"/>
                </a:solidFill>
                <a:latin typeface="Calibri"/>
              </a:rPr>
              <a:t>• Fait : maquette, storyboard, 3 fenêtres Swing reliées, un bouton avec listener sur chaque carte, exceptions affichées, fichiers .txt et .ser, suivi de la livraison par notre livreur.</a:t>
            </a:r>
          </a:p>
          <a:p>
            <a:pPr>
              <a:spcAft>
                <a:spcPts val="500"/>
              </a:spcAft>
            </a:pPr>
            <a:r>
              <a:rPr sz="1500" b="0">
                <a:solidFill>
                  <a:srgbClr val="1B1F27"/>
                </a:solidFill>
                <a:latin typeface="Calibri"/>
              </a:rPr>
              <a:t>• Vérifié : TestsTP6 simule les clics (doClick) : 39 vérifications passent ; les tests du TP5 passent toujours.</a:t>
            </a:r>
          </a:p>
          <a:p>
            <a:pPr>
              <a:spcAft>
                <a:spcPts val="500"/>
              </a:spcAft>
            </a:pPr>
            <a:r>
              <a:rPr sz="1500" b="0">
                <a:solidFill>
                  <a:srgbClr val="1B1F27"/>
                </a:solidFill>
                <a:latin typeface="Calibri"/>
              </a:rPr>
              <a:t>• Appris : JFrame et layouts, ActionListener (this ou classe anonyme), séparer l'interface du métier, le fil d'exécution de Swing.</a:t>
            </a:r>
          </a:p>
          <a:p>
            <a:pPr>
              <a:spcAft>
                <a:spcPts val="500"/>
              </a:spcAft>
            </a:pPr>
            <a:r>
              <a:rPr sz="1500" b="0">
                <a:solidFill>
                  <a:srgbClr val="1B1F27"/>
                </a:solidFill>
                <a:latin typeface="Calibri"/>
              </a:rPr>
              <a:t>• Bug trouvé grâce aux tests : après la lecture d'un .ser corrompu, le fichier restait ouvert (TP5). Corrigé avec deux ressources dans le try.</a:t>
            </a:r>
          </a:p>
          <a:p>
            <a:pPr>
              <a:spcAft>
                <a:spcPts val="500"/>
              </a:spcAft>
            </a:pPr>
            <a:r>
              <a:rPr sz="1500" b="0">
                <a:solidFill>
                  <a:srgbClr val="1B1F27"/>
                </a:solidFill>
                <a:latin typeface="Calibri"/>
              </a:rPr>
              <a:t>• Limites : un seul client et un seul livreur, pas d'écran de connexion ni de photos des plats ; les images de fenêtres sont des rendus du programme de test.</a:t>
            </a:r>
          </a:p>
          <a:p>
            <a:pPr>
              <a:spcAft>
                <a:spcPts val="500"/>
              </a:spcAft>
            </a:pPr>
            <a:r>
              <a:rPr sz="1500" b="0">
                <a:solidFill>
                  <a:srgbClr val="1B1F27"/>
                </a:solidFill>
                <a:latin typeface="Calibri"/>
              </a:rPr>
              <a:t>• Améliorations : séparer en Modèle-Vue-Contrôleur (TP7), plusieurs livreurs, retirer un plat du panier.</a:t>
            </a:r>
          </a:p>
        </p:txBody>
      </p:sp>
      <p:sp>
        <p:nvSpPr>
          <p:cNvPr id="9" name="Rectangle 8"/>
          <p:cNvSpPr/>
          <p:nvPr/>
        </p:nvSpPr>
        <p:spPr>
          <a:xfrm>
            <a:off x="6355080" y="1097280"/>
            <a:ext cx="5486400" cy="530352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143000"/>
            <a:ext cx="5257800" cy="5212080"/>
          </a:xfrm>
          <a:prstGeom prst="rect">
            <a:avLst/>
          </a:prstGeom>
          <a:noFill/>
        </p:spPr>
        <p:txBody>
          <a:bodyPr wrap="square" anchor="t" lIns="45720" rIns="45720" tIns="27432" bIns="27432">
            <a:spAutoFit/>
          </a:bodyPr>
          <a:lstStyle/>
          <a:p>
            <a:pPr>
              <a:spcAft>
                <a:spcPts val="500"/>
              </a:spcAft>
            </a:pPr>
            <a:r>
              <a:rPr sz="2200" b="1">
                <a:solidFill>
                  <a:srgbClr val="1F3A5F"/>
                </a:solidFill>
                <a:latin typeface="Calibri"/>
              </a:rPr>
              <a:t>Sources</a:t>
            </a:r>
          </a:p>
          <a:p>
            <a:pPr>
              <a:spcAft>
                <a:spcPts val="500"/>
              </a:spcAft>
            </a:pPr>
            <a:r>
              <a:rPr sz="1400" b="0">
                <a:solidFill>
                  <a:srgbClr val="1B1F27"/>
                </a:solidFill>
                <a:latin typeface="Calibri"/>
              </a:rPr>
              <a:t>• J.-P. Segado, TP6 et cours 6 « Interface graphique Swing, AWT, Listeners » (ECE).</a:t>
            </a:r>
          </a:p>
          <a:p>
            <a:pPr>
              <a:spcAft>
                <a:spcPts val="500"/>
              </a:spcAft>
            </a:pPr>
            <a:r>
              <a:rPr sz="1400" b="0">
                <a:solidFill>
                  <a:srgbClr val="1B1F27"/>
                </a:solidFill>
                <a:latin typeface="Calibri"/>
              </a:rPr>
              <a:t>• Documentation Java SE (Oracle) : JFrame, ActionListener, ActionEvent, JOptionPane.</a:t>
            </a:r>
          </a:p>
          <a:p>
            <a:pPr>
              <a:spcAft>
                <a:spcPts val="500"/>
              </a:spcAft>
            </a:pPr>
            <a:r>
              <a:rPr sz="1400" b="0">
                <a:solidFill>
                  <a:srgbClr val="1B1F27"/>
                </a:solidFill>
                <a:latin typeface="Calibri"/>
              </a:rPr>
              <a:t>• Notre code du TP5 (exceptions, fichier, sérialisation).</a:t>
            </a:r>
          </a:p>
          <a:p>
            <a:pPr>
              <a:spcAft>
                <a:spcPts val="500"/>
              </a:spcAft>
            </a:pPr>
            <a:r>
              <a:rPr sz="2200" b="1">
                <a:solidFill>
                  <a:srgbClr val="1F3A5F"/>
                </a:solidFill>
                <a:latin typeface="Calibri"/>
              </a:rPr>
              <a:t>IA utilisée</a:t>
            </a:r>
          </a:p>
          <a:p>
            <a:pPr>
              <a:spcAft>
                <a:spcPts val="500"/>
              </a:spcAft>
            </a:pPr>
            <a:r>
              <a:rPr sz="1400" b="0">
                <a:solidFill>
                  <a:srgbClr val="1B1F27"/>
                </a:solidFill>
                <a:latin typeface="Calibri"/>
              </a:rPr>
              <a:t>• Claude (Anthropic) : maquette, storyboard, code Swing, tests et slides générés par IA. Part d'aide de l'IA : à indiquer par l'équipe.</a:t>
            </a:r>
          </a:p>
          <a:p>
            <a:pPr>
              <a:spcAft>
                <a:spcPts val="500"/>
              </a:spcAft>
            </a:pPr>
            <a:r>
              <a:rPr sz="1500" b="1">
                <a:solidFill>
                  <a:srgbClr val="E85D04"/>
                </a:solidFill>
                <a:latin typeface="Calibri"/>
              </a:rPr>
              <a:t>Prompt utilisé :</a:t>
            </a:r>
          </a:p>
          <a:p>
            <a:pPr>
              <a:spcAft>
                <a:spcPts val="500"/>
              </a:spcAft>
            </a:pPr>
            <a:r>
              <a:rPr sz="1350" b="0">
                <a:solidFill>
                  <a:srgbClr val="555B66"/>
                </a:solidFill>
                <a:latin typeface="Calibri"/>
              </a:rPr>
              <a:t>• « fais le tp6 dans la suite du tp5 fastbite », puis « inspire toi uber eats [...] rajoute le restaurant yoshi sushi » (sujet du TP6 et code du TP5 fournis à l'IA)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