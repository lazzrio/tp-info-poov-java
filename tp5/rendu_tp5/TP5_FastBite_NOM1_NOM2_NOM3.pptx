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(10 s). Notre thème libre est FastBite, une application de livraison de repas comme Deliveroo, que nous avons construite aux TP2, TP3 et TP4. Ce TP5 ajoute trois choses : la gestion des erreurs avec les exceptions, l'écriture et la lecture d'un fichier texte, et la sérialisation d'objets dans un fichier binaire.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Sommaire (10 s). Trois questions puis un bilan avec les sources. Nous sommes partis du code exact de notre TP4 et nous l'avons modifié le moins possible, pour que les changements du TP5 restent lisibles.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(1 min 15). Nous avons relu chaque classe du TP4 en cherchant ce qui peut mal se passer. Neuf cas ressortent, et chacun a sa propre exception qui hérite de FastBiteException. Ce sont des exceptions vérifiées : ce sont des erreurs prévisibles, le compilateur nous oblige donc à les traiter. Deux ont remplacé un comportement du TP4 : une note invalide levait une IllegalArgumentException, et une moyenne sans note renvoyait 0.0, ce qui se confondait avec une vraie note de zéro. Nous avons gardé IllegalArgumentException pour le plat null, car c'est un bug du programmeur, pas un cas à gérer. Les méthodes métier ne font aucun try/catch : elles lèvent ou propagent, et c'est le Main qui attrape.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diagramme (45 s). Nous sommes partis de notre diagramme du TP4, en petit en haut à droite, avec les mêmes couleurs et les mêmes associations. Nous avons ajouté, en rouge, le mot throws dans les signatures des méthodes qui peuvent lever une exception, et la hiérarchie des exceptions à droite : FastBiteException hérite d'Exception, et les neuf exceptions héritent de FastBiteException. Nous avons aussi ajouté Panier, qui hérite de Commande : quand elle redéfinit ajouterPlat, elle doit redéclarer le même throws, sinon le compilateur refuse. Le diagramme sert de contrat : l'appelant sait ce qu'il doit gérer sans lire le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code et résultat (1 min). À gauche, throw dans le code : accepterLivraison lève LivreurIndisponibleException au lieu d'afficher un message, ajouterPlat vérifie que le plat est au menu, valider refuse une commande vide. À droite la console : B1 à B8, un cas d'erreur par exception, attrapé avec try/catch. Le cas B5 montre aussi le bloc finally, exécuté dans tous les cas. Le scénario complet du TP3 et du TP4, qui n'a aucun try/catch, passe sans erreur : les exceptions sont propagées jusqu'au Main, qui les attrape en un seul catch sur la classe mère.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 code (1 min). Nous avons choisi un format simple : une ligne par plat, quatre champs séparés par un point-virgule, et les allergènes séparés par des virgules. À gauche l'écriture avec un try-with-resources qui ferme le fichier tout seul. À droite la lecture : split avec -1 pour garder le dernier champ vide, vérification du nombre de champs, et conversion du prix. Si la ligne est mauvaise on lève FormatFichierException avec le numéro de ligne, et pour le prix on garde l'erreur d'origine NumberFormatException comme cause : c'est le chaînage. Les plats sont d'abord lus dans une liste temporaire, donc si une ligne est fausse le menu n'est pas modifié du tout.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 résultat (1 min). En haut à gauche notre diagramme TP4 mis à jour : Restaurant a trois nouvelles méthodes, sauvegarderMenu qui peut lever IOException, chargerMenu qui peut lever aussi FormatFichierException, et afficherMenu. En dessous, le vrai fichier produit. À droite la console : on écrit le menu, on le relit dans un nouveau restaurant et on l'affiche, les trois plats sont identiques. Ensuite trois erreurs : fichier introuvable, prix non numérique avec la cause chaînée, et ligne avec deux champs au lieu de quatre. Après ces échecs le menu reste intact.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code (1 min). Dans notre thème, ce que le professeur appelle les hébergements, ce sont les restaurants. Nous sérialisons une liste de restaurants. Pour cela Restaurant et Plat implémentent Serializable, parce qu'un objet n'est sérialisable que si tout ce qu'il contient l'est. serialVersionUID fixe la version de la classe. Le champ nbCommandesRecues est transient : il n'est pas enregistré. À droite l'écriture avec ObjectOutputStream et writeObject, puis la lecture avec readObject qui renvoie un Object : il faut le caster, et ClassNotFoundException est une exception vérifiée à traiter. En bas le fichier produit : il est binaire, commence par ac ed 00 05, la signature Java, et on y lit les noms de classes.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résultat (1 min). Notre diagramme TP4 avec l'interface Serializable ajoutée en haut à droite : Restaurant et Plat la réalisent. Dans Restaurant on voit serialVersionUID, le champ transient et les deux méthodes statiques de sauvegarde et de chargement. La note rappelle que Client, Livreur, Commande, Panier et Livraison ne sont pas sérialisables. La console : avant, deux restaurants avec leurs plats et leurs notes. Après relecture, les objets sont identiques en contenu, mais ce sont des copies, le == donne false. La note du plat est conservée et le champ transient est revenu à zéro. Deux cas d'erreur : sérialiser un Client lève NotSerializableException, et lire un fichier qui n'est pas un .ser lève StreamCorruptedException.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(30 s). Nous avons traité les trois questions et vérifié avec des tests automatiques que le TP4 fonctionne toujours. Ce que nous retenons : la différence entre exceptions vérifiées et non vérifiées, la règle du throws pour les méthodes redéfinies, et le fait qu'un objet désérialisé est une copie. Limites : on garde les tableaux de 20 du TP4. Sources : le sujet et le cours de M. Segado, la documentation Java d'Oracle. Nous avons utilisé l'IA Claude pour aider à écrire le code, avec deux exemples de prompts affichés ici ; le code a été compilé et testé, et nous devons pouvoir expliquer chaque choix.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731520"/>
          </a:xfrm>
          <a:prstGeom prst="rect">
            <a:avLst/>
          </a:prstGeom>
          <a:noFill/>
        </p:spPr>
        <p:txBody>
          <a:bodyPr wrap="square" anchor="t" lIns="45720" rIns="45720" tIns="27432" bIns="27432">
            <a:spAutoFit/>
          </a:bodyPr>
          <a:lstStyle/>
          <a:p>
            <a:pPr>
              <a:spcAft>
                <a:spcPts val="500"/>
              </a:spcAft>
            </a:pPr>
            <a:r>
              <a:rPr sz="5400" b="1">
                <a:solidFill>
                  <a:srgbClr val="FFFFFF"/>
                </a:solidFill>
                <a:latin typeface="Calibri"/>
              </a:rPr>
              <a:t>FastBite</a:t>
            </a:r>
          </a:p>
        </p:txBody>
      </p:sp>
      <p:sp>
        <p:nvSpPr>
          <p:cNvPr id="5" name="TextBox 4"/>
          <p:cNvSpPr txBox="1"/>
          <p:nvPr/>
        </p:nvSpPr>
        <p:spPr>
          <a:xfrm>
            <a:off x="822960" y="2331720"/>
            <a:ext cx="10515600" cy="548640"/>
          </a:xfrm>
          <a:prstGeom prst="rect">
            <a:avLst/>
          </a:prstGeom>
          <a:noFill/>
        </p:spPr>
        <p:txBody>
          <a:bodyPr wrap="square" anchor="t" lIns="45720" rIns="45720" tIns="27432" bIns="27432">
            <a:spAutoFit/>
          </a:bodyPr>
          <a:lstStyle/>
          <a:p>
            <a:pPr>
              <a:spcAft>
                <a:spcPts val="500"/>
              </a:spcAft>
            </a:pPr>
            <a:r>
              <a:rPr sz="2000" b="0">
                <a:solidFill>
                  <a:srgbClr val="C9D6EA"/>
                </a:solidFill>
                <a:latin typeface="Calibri"/>
              </a:rPr>
              <a:t>(notre application de livraison de repas, type Deliveroo)</a:t>
            </a:r>
          </a:p>
        </p:txBody>
      </p:sp>
      <p:sp>
        <p:nvSpPr>
          <p:cNvPr id="6" name="TextBox 5"/>
          <p:cNvSpPr txBox="1"/>
          <p:nvPr/>
        </p:nvSpPr>
        <p:spPr>
          <a:xfrm>
            <a:off x="822960" y="3063240"/>
            <a:ext cx="10789920" cy="914400"/>
          </a:xfrm>
          <a:prstGeom prst="rect">
            <a:avLst/>
          </a:prstGeom>
          <a:noFill/>
        </p:spPr>
        <p:txBody>
          <a:bodyPr wrap="square" anchor="t" lIns="45720" rIns="45720" tIns="27432" bIns="27432">
            <a:spAutoFit/>
          </a:bodyPr>
          <a:lstStyle/>
          <a:p>
            <a:pPr>
              <a:spcAft>
                <a:spcPts val="500"/>
              </a:spcAft>
            </a:pPr>
            <a:r>
              <a:rPr sz="3000" b="1">
                <a:solidFill>
                  <a:srgbClr val="E85D04"/>
                </a:solidFill>
                <a:latin typeface="Calibri"/>
              </a:rPr>
              <a:t>TP5 — Exceptions, fichier texte, sérialisation / désérialisation</a:t>
            </a:r>
          </a:p>
        </p:txBody>
      </p:sp>
      <p:sp>
        <p:nvSpPr>
          <p:cNvPr id="7" name="TextBox 6"/>
          <p:cNvSpPr txBox="1"/>
          <p:nvPr/>
        </p:nvSpPr>
        <p:spPr>
          <a:xfrm>
            <a:off x="822960" y="4480560"/>
            <a:ext cx="10515600" cy="457200"/>
          </a:xfrm>
          <a:prstGeom prst="rect">
            <a:avLst/>
          </a:prstGeom>
          <a:noFill/>
        </p:spPr>
        <p:txBody>
          <a:bodyPr wrap="square" anchor="t" lIns="45720" rIns="45720" tIns="27432" bIns="27432">
            <a:spAutoFit/>
          </a:bodyPr>
          <a:lstStyle/>
          <a:p>
            <a:pPr>
              <a:spcAft>
                <a:spcPts val="500"/>
              </a:spcAft>
            </a:pPr>
            <a:r>
              <a:rPr sz="2200" b="1">
                <a:solidFill>
                  <a:srgbClr val="FFFFFF"/>
                </a:solidFill>
                <a:latin typeface="Calibri"/>
              </a:rPr>
              <a:t>[Prénom NOM 1] · [Prénom NOM 2] · [Prénom NOM 3]</a:t>
            </a:r>
          </a:p>
        </p:txBody>
      </p:sp>
      <p:sp>
        <p:nvSpPr>
          <p:cNvPr id="8" name="TextBox 7"/>
          <p:cNvSpPr txBox="1"/>
          <p:nvPr/>
        </p:nvSpPr>
        <p:spPr>
          <a:xfrm>
            <a:off x="822960" y="5029200"/>
            <a:ext cx="10515600" cy="914400"/>
          </a:xfrm>
          <a:prstGeom prst="rect">
            <a:avLst/>
          </a:prstGeom>
          <a:noFill/>
        </p:spPr>
        <p:txBody>
          <a:bodyPr wrap="square" anchor="t" lIns="45720" rIns="45720" tIns="27432" bIns="27432">
            <a:spAutoFit/>
          </a:bodyPr>
          <a:lstStyle/>
          <a:p>
            <a:pPr>
              <a:spcAft>
                <a:spcPts val="500"/>
              </a:spcAft>
            </a:pPr>
            <a:r>
              <a:rPr sz="1600" b="0">
                <a:solidFill>
                  <a:srgbClr val="C9D6EA"/>
                </a:solidFill>
                <a:latin typeface="Calibri"/>
              </a:rPr>
              <a:t>Programmation orientée objet en Java — ECE Paris, Ing2</a:t>
            </a:r>
          </a:p>
          <a:p>
            <a:pPr>
              <a:spcAft>
                <a:spcPts val="500"/>
              </a:spcAft>
            </a:pPr>
            <a:r>
              <a:rPr sz="1600" b="0">
                <a:solidFill>
                  <a:srgbClr val="C9D6EA"/>
                </a:solidFill>
                <a:latin typeface="Calibri"/>
              </a:rPr>
              <a:t>Enseignant : J.-P. Segado · 02/10/2026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Sommaire</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2</a:t>
            </a:r>
          </a:p>
        </p:txBody>
      </p:sp>
      <p:sp>
        <p:nvSpPr>
          <p:cNvPr id="8" name="Oval 7"/>
          <p:cNvSpPr/>
          <p:nvPr/>
        </p:nvSpPr>
        <p:spPr>
          <a:xfrm>
            <a:off x="822960" y="1417320"/>
            <a:ext cx="685800" cy="68580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rPr>
              <a:t>1</a:t>
            </a:r>
          </a:p>
        </p:txBody>
      </p:sp>
      <p:sp>
        <p:nvSpPr>
          <p:cNvPr id="9" name="TextBox 8"/>
          <p:cNvSpPr txBox="1"/>
          <p:nvPr/>
        </p:nvSpPr>
        <p:spPr>
          <a:xfrm>
            <a:off x="1783080" y="1399032"/>
            <a:ext cx="9144000" cy="457200"/>
          </a:xfrm>
          <a:prstGeom prst="rect">
            <a:avLst/>
          </a:prstGeom>
          <a:noFill/>
        </p:spPr>
        <p:txBody>
          <a:bodyPr wrap="square" anchor="t" lIns="45720" rIns="45720" tIns="27432" bIns="27432">
            <a:spAutoFit/>
          </a:bodyPr>
          <a:lstStyle/>
          <a:p>
            <a:pPr>
              <a:spcAft>
                <a:spcPts val="500"/>
              </a:spcAft>
            </a:pPr>
            <a:r>
              <a:rPr sz="2600" b="1">
                <a:solidFill>
                  <a:srgbClr val="1F3A5F"/>
                </a:solidFill>
                <a:latin typeface="Calibri"/>
              </a:rPr>
              <a:t>Q1 — Exceptions</a:t>
            </a:r>
          </a:p>
        </p:txBody>
      </p:sp>
      <p:sp>
        <p:nvSpPr>
          <p:cNvPr id="10" name="TextBox 9"/>
          <p:cNvSpPr txBox="1"/>
          <p:nvPr/>
        </p:nvSpPr>
        <p:spPr>
          <a:xfrm>
            <a:off x="1783080" y="1801368"/>
            <a:ext cx="9144000" cy="365760"/>
          </a:xfrm>
          <a:prstGeom prst="rect">
            <a:avLst/>
          </a:prstGeom>
          <a:noFill/>
        </p:spPr>
        <p:txBody>
          <a:bodyPr wrap="square" anchor="t" lIns="45720" rIns="45720" tIns="27432" bIns="27432">
            <a:spAutoFit/>
          </a:bodyPr>
          <a:lstStyle/>
          <a:p>
            <a:pPr>
              <a:spcAft>
                <a:spcPts val="500"/>
              </a:spcAft>
            </a:pPr>
            <a:r>
              <a:rPr sz="1600" b="0">
                <a:solidFill>
                  <a:srgbClr val="555B66"/>
                </a:solidFill>
                <a:latin typeface="Calibri"/>
              </a:rPr>
              <a:t>repérer, lever, propager, attraper + UML mis à jour (3 slides)</a:t>
            </a:r>
          </a:p>
        </p:txBody>
      </p:sp>
      <p:sp>
        <p:nvSpPr>
          <p:cNvPr id="11" name="Oval 10"/>
          <p:cNvSpPr/>
          <p:nvPr/>
        </p:nvSpPr>
        <p:spPr>
          <a:xfrm>
            <a:off x="822960" y="2468880"/>
            <a:ext cx="685800" cy="68580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rPr>
              <a:t>2</a:t>
            </a:r>
          </a:p>
        </p:txBody>
      </p:sp>
      <p:sp>
        <p:nvSpPr>
          <p:cNvPr id="12" name="TextBox 11"/>
          <p:cNvSpPr txBox="1"/>
          <p:nvPr/>
        </p:nvSpPr>
        <p:spPr>
          <a:xfrm>
            <a:off x="1783080" y="2450592"/>
            <a:ext cx="9144000" cy="457200"/>
          </a:xfrm>
          <a:prstGeom prst="rect">
            <a:avLst/>
          </a:prstGeom>
          <a:noFill/>
        </p:spPr>
        <p:txBody>
          <a:bodyPr wrap="square" anchor="t" lIns="45720" rIns="45720" tIns="27432" bIns="27432">
            <a:spAutoFit/>
          </a:bodyPr>
          <a:lstStyle/>
          <a:p>
            <a:pPr>
              <a:spcAft>
                <a:spcPts val="500"/>
              </a:spcAft>
            </a:pPr>
            <a:r>
              <a:rPr sz="2600" b="1">
                <a:solidFill>
                  <a:srgbClr val="1F3A5F"/>
                </a:solidFill>
                <a:latin typeface="Calibri"/>
              </a:rPr>
              <a:t>Q2 — Fichier texte</a:t>
            </a:r>
          </a:p>
        </p:txBody>
      </p:sp>
      <p:sp>
        <p:nvSpPr>
          <p:cNvPr id="13" name="TextBox 12"/>
          <p:cNvSpPr txBox="1"/>
          <p:nvPr/>
        </p:nvSpPr>
        <p:spPr>
          <a:xfrm>
            <a:off x="1783080" y="2852928"/>
            <a:ext cx="9144000" cy="365760"/>
          </a:xfrm>
          <a:prstGeom prst="rect">
            <a:avLst/>
          </a:prstGeom>
          <a:noFill/>
        </p:spPr>
        <p:txBody>
          <a:bodyPr wrap="square" anchor="t" lIns="45720" rIns="45720" tIns="27432" bIns="27432">
            <a:spAutoFit/>
          </a:bodyPr>
          <a:lstStyle/>
          <a:p>
            <a:pPr>
              <a:spcAft>
                <a:spcPts val="500"/>
              </a:spcAft>
            </a:pPr>
            <a:r>
              <a:rPr sz="1600" b="0">
                <a:solidFill>
                  <a:srgbClr val="555B66"/>
                </a:solidFill>
                <a:latin typeface="Calibri"/>
              </a:rPr>
              <a:t>écrire, lire et afficher le menu d'un restaurant (2 slides)</a:t>
            </a:r>
          </a:p>
        </p:txBody>
      </p:sp>
      <p:sp>
        <p:nvSpPr>
          <p:cNvPr id="14" name="Oval 13"/>
          <p:cNvSpPr/>
          <p:nvPr/>
        </p:nvSpPr>
        <p:spPr>
          <a:xfrm>
            <a:off x="822960" y="3520439"/>
            <a:ext cx="685800" cy="68580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rPr>
              <a:t>3</a:t>
            </a:r>
          </a:p>
        </p:txBody>
      </p:sp>
      <p:sp>
        <p:nvSpPr>
          <p:cNvPr id="15" name="TextBox 14"/>
          <p:cNvSpPr txBox="1"/>
          <p:nvPr/>
        </p:nvSpPr>
        <p:spPr>
          <a:xfrm>
            <a:off x="1783080" y="3502151"/>
            <a:ext cx="9144000" cy="457200"/>
          </a:xfrm>
          <a:prstGeom prst="rect">
            <a:avLst/>
          </a:prstGeom>
          <a:noFill/>
        </p:spPr>
        <p:txBody>
          <a:bodyPr wrap="square" anchor="t" lIns="45720" rIns="45720" tIns="27432" bIns="27432">
            <a:spAutoFit/>
          </a:bodyPr>
          <a:lstStyle/>
          <a:p>
            <a:pPr>
              <a:spcAft>
                <a:spcPts val="500"/>
              </a:spcAft>
            </a:pPr>
            <a:r>
              <a:rPr sz="2600" b="1">
                <a:solidFill>
                  <a:srgbClr val="1F3A5F"/>
                </a:solidFill>
                <a:latin typeface="Calibri"/>
              </a:rPr>
              <a:t>Q3 — Sérialisation</a:t>
            </a:r>
          </a:p>
        </p:txBody>
      </p:sp>
      <p:sp>
        <p:nvSpPr>
          <p:cNvPr id="16" name="TextBox 15"/>
          <p:cNvSpPr txBox="1"/>
          <p:nvPr/>
        </p:nvSpPr>
        <p:spPr>
          <a:xfrm>
            <a:off x="1783080" y="3904487"/>
            <a:ext cx="9144000" cy="365760"/>
          </a:xfrm>
          <a:prstGeom prst="rect">
            <a:avLst/>
          </a:prstGeom>
          <a:noFill/>
        </p:spPr>
        <p:txBody>
          <a:bodyPr wrap="square" anchor="t" lIns="45720" rIns="45720" tIns="27432" bIns="27432">
            <a:spAutoFit/>
          </a:bodyPr>
          <a:lstStyle/>
          <a:p>
            <a:pPr>
              <a:spcAft>
                <a:spcPts val="500"/>
              </a:spcAft>
            </a:pPr>
            <a:r>
              <a:rPr sz="1600" b="0">
                <a:solidFill>
                  <a:srgbClr val="555B66"/>
                </a:solidFill>
                <a:latin typeface="Calibri"/>
              </a:rPr>
              <a:t>enregistrer et relire des restaurants dans un .ser (2 slides)</a:t>
            </a:r>
          </a:p>
        </p:txBody>
      </p:sp>
      <p:sp>
        <p:nvSpPr>
          <p:cNvPr id="17" name="Oval 16"/>
          <p:cNvSpPr/>
          <p:nvPr/>
        </p:nvSpPr>
        <p:spPr>
          <a:xfrm>
            <a:off x="822960" y="4572000"/>
            <a:ext cx="685800" cy="68580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rPr>
              <a:t>4</a:t>
            </a:r>
          </a:p>
        </p:txBody>
      </p:sp>
      <p:sp>
        <p:nvSpPr>
          <p:cNvPr id="18" name="TextBox 17"/>
          <p:cNvSpPr txBox="1"/>
          <p:nvPr/>
        </p:nvSpPr>
        <p:spPr>
          <a:xfrm>
            <a:off x="1783080" y="4553712"/>
            <a:ext cx="9144000" cy="457200"/>
          </a:xfrm>
          <a:prstGeom prst="rect">
            <a:avLst/>
          </a:prstGeom>
          <a:noFill/>
        </p:spPr>
        <p:txBody>
          <a:bodyPr wrap="square" anchor="t" lIns="45720" rIns="45720" tIns="27432" bIns="27432">
            <a:spAutoFit/>
          </a:bodyPr>
          <a:lstStyle/>
          <a:p>
            <a:pPr>
              <a:spcAft>
                <a:spcPts val="500"/>
              </a:spcAft>
            </a:pPr>
            <a:r>
              <a:rPr sz="2600" b="1">
                <a:solidFill>
                  <a:srgbClr val="1F3A5F"/>
                </a:solidFill>
                <a:latin typeface="Calibri"/>
              </a:rPr>
              <a:t>Bilan, sources et IA</a:t>
            </a:r>
          </a:p>
        </p:txBody>
      </p:sp>
      <p:sp>
        <p:nvSpPr>
          <p:cNvPr id="19" name="TextBox 18"/>
          <p:cNvSpPr txBox="1"/>
          <p:nvPr/>
        </p:nvSpPr>
        <p:spPr>
          <a:xfrm>
            <a:off x="1783080" y="4956048"/>
            <a:ext cx="9144000" cy="365760"/>
          </a:xfrm>
          <a:prstGeom prst="rect">
            <a:avLst/>
          </a:prstGeom>
          <a:noFill/>
        </p:spPr>
        <p:txBody>
          <a:bodyPr wrap="square" anchor="t" lIns="45720" rIns="45720" tIns="27432" bIns="27432">
            <a:spAutoFit/>
          </a:bodyPr>
          <a:lstStyle/>
          <a:p>
            <a:pPr>
              <a:spcAft>
                <a:spcPts val="500"/>
              </a:spcAft>
            </a:pPr>
            <a:r>
              <a:rPr sz="1600" b="0">
                <a:solidFill>
                  <a:srgbClr val="555B66"/>
                </a:solidFill>
                <a:latin typeface="Calibri"/>
              </a:rPr>
              <a:t>ce qui marche, ce qui a changé, outils utilisés</a:t>
            </a:r>
          </a:p>
        </p:txBody>
      </p:sp>
      <p:sp>
        <p:nvSpPr>
          <p:cNvPr id="20" name="Rectangle 19"/>
          <p:cNvSpPr/>
          <p:nvPr/>
        </p:nvSpPr>
        <p:spPr>
          <a:xfrm>
            <a:off x="822960" y="5623560"/>
            <a:ext cx="10515600" cy="6400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669280"/>
            <a:ext cx="10241280" cy="548640"/>
          </a:xfrm>
          <a:prstGeom prst="rect">
            <a:avLst/>
          </a:prstGeom>
          <a:noFill/>
        </p:spPr>
        <p:txBody>
          <a:bodyPr wrap="square" anchor="ctr" lIns="45720" rIns="45720" tIns="27432" bIns="27432">
            <a:spAutoFit/>
          </a:bodyPr>
          <a:lstStyle/>
          <a:p>
            <a:pPr>
              <a:spcAft>
                <a:spcPts val="500"/>
              </a:spcAft>
            </a:pPr>
            <a:r>
              <a:rPr sz="1400" b="0">
                <a:solidFill>
                  <a:srgbClr val="1B1F27"/>
                </a:solidFill>
                <a:latin typeface="Calibri"/>
              </a:rPr>
              <a:t>Point de départ : notre TP4 complet (Evaluable, Utilisateur abstraite, Panier extends Commande implements Comparable). Le TP5 le modifie le moins possible.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Q1 — Exceptions : repérer, lever, propager</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3</a:t>
            </a:r>
          </a:p>
        </p:txBody>
      </p:sp>
      <p:graphicFrame>
        <p:nvGraphicFramePr>
          <p:cNvPr id="8" name="Table 7"/>
          <p:cNvGraphicFramePr>
            <a:graphicFrameLocks noGrp="1"/>
          </p:cNvGraphicFramePr>
          <p:nvPr/>
        </p:nvGraphicFramePr>
        <p:xfrm>
          <a:off x="365760" y="1143000"/>
          <a:ext cx="6949440" cy="4023360"/>
        </p:xfrm>
        <a:graphic>
          <a:graphicData uri="http://schemas.openxmlformats.org/drawingml/2006/table">
            <a:tbl>
              <a:tblPr firstRow="1" bandRow="1">
                <a:tableStyleId>{5C22544A-7EE6-4342-B048-85BDC9FD1C3A}</a:tableStyleId>
              </a:tblPr>
              <a:tblGrid>
                <a:gridCol w="2240280"/>
                <a:gridCol w="2971800"/>
                <a:gridCol w="1737360"/>
              </a:tblGrid>
              <a:tr h="402336">
                <a:tc>
                  <a:txBody>
                    <a:bodyPr/>
                    <a:lstStyle/>
                    <a:p>
                      <a:r>
                        <a:rPr sz="1100" b="1">
                          <a:solidFill>
                            <a:srgbClr val="FFFFFF"/>
                          </a:solidFill>
                          <a:latin typeface="Calibri"/>
                        </a:rPr>
                        <a:t>Exception (extends FastBiteException)</a:t>
                      </a:r>
                    </a:p>
                  </a:txBody>
                  <a:tcPr marL="54864" marR="54864" marT="18288" marB="18288" anchor="ctr">
                    <a:solidFill>
                      <a:srgbClr val="1F3A5F"/>
                    </a:solidFill>
                  </a:tcPr>
                </a:tc>
                <a:tc>
                  <a:txBody>
                    <a:bodyPr/>
                    <a:lstStyle/>
                    <a:p>
                      <a:r>
                        <a:rPr sz="1100" b="1">
                          <a:solidFill>
                            <a:srgbClr val="FFFFFF"/>
                          </a:solidFill>
                          <a:latin typeface="Calibri"/>
                        </a:rPr>
                        <a:t>Levée par</a:t>
                      </a:r>
                    </a:p>
                  </a:txBody>
                  <a:tcPr marL="54864" marR="54864" marT="18288" marB="18288" anchor="ctr">
                    <a:solidFill>
                      <a:srgbClr val="1F3A5F"/>
                    </a:solidFill>
                  </a:tcPr>
                </a:tc>
                <a:tc>
                  <a:txBody>
                    <a:bodyPr/>
                    <a:lstStyle/>
                    <a:p>
                      <a:r>
                        <a:rPr sz="1100" b="1">
                          <a:solidFill>
                            <a:srgbClr val="FFFFFF"/>
                          </a:solidFill>
                          <a:latin typeface="Calibri"/>
                        </a:rPr>
                        <a:t>Pourquoi</a:t>
                      </a:r>
                    </a:p>
                  </a:txBody>
                  <a:tcPr marL="54864" marR="54864" marT="18288" marB="18288" anchor="ctr">
                    <a:solidFill>
                      <a:srgbClr val="1F3A5F"/>
                    </a:solidFill>
                  </a:tcPr>
                </a:tc>
              </a:tr>
              <a:tr h="402336">
                <a:tc>
                  <a:txBody>
                    <a:bodyPr/>
                    <a:lstStyle/>
                    <a:p>
                      <a:r>
                        <a:rPr sz="1050" b="1">
                          <a:solidFill>
                            <a:srgbClr val="1B1F27"/>
                          </a:solidFill>
                          <a:latin typeface="Calibri"/>
                        </a:rPr>
                        <a:t>NoteInvalideException</a:t>
                      </a:r>
                    </a:p>
                  </a:txBody>
                  <a:tcPr marL="54864" marR="54864" marT="18288" marB="18288" anchor="ctr">
                    <a:solidFill>
                      <a:srgbClr val="F3F5F9"/>
                    </a:solidFill>
                  </a:tcPr>
                </a:tc>
                <a:tc>
                  <a:txBody>
                    <a:bodyPr/>
                    <a:lstStyle/>
                    <a:p>
                      <a:r>
                        <a:rPr sz="1050" b="0">
                          <a:solidFill>
                            <a:srgbClr val="1B1F27"/>
                          </a:solidFill>
                          <a:latin typeface="Calibri"/>
                        </a:rPr>
                        <a:t>ajouterNote (Livreur, Plat, Restaurant) ; propagée par Client.noterRider</a:t>
                      </a:r>
                    </a:p>
                  </a:txBody>
                  <a:tcPr marL="54864" marR="54864" marT="18288" marB="18288" anchor="ctr">
                    <a:solidFill>
                      <a:srgbClr val="F3F5F9"/>
                    </a:solidFill>
                  </a:tcPr>
                </a:tc>
                <a:tc>
                  <a:txBody>
                    <a:bodyPr/>
                    <a:lstStyle/>
                    <a:p>
                      <a:r>
                        <a:rPr sz="1050" b="0">
                          <a:solidFill>
                            <a:srgbClr val="1B1F27"/>
                          </a:solidFill>
                          <a:latin typeface="Calibri"/>
                        </a:rPr>
                        <a:t>note hors 0–5, NaN</a:t>
                      </a:r>
                    </a:p>
                  </a:txBody>
                  <a:tcPr marL="54864" marR="54864" marT="18288" marB="18288" anchor="ctr">
                    <a:solidFill>
                      <a:srgbClr val="F3F5F9"/>
                    </a:solidFill>
                  </a:tcPr>
                </a:tc>
              </a:tr>
              <a:tr h="402336">
                <a:tc>
                  <a:txBody>
                    <a:bodyPr/>
                    <a:lstStyle/>
                    <a:p>
                      <a:r>
                        <a:rPr sz="1050" b="1">
                          <a:solidFill>
                            <a:srgbClr val="1B1F27"/>
                          </a:solidFill>
                          <a:latin typeface="Calibri"/>
                        </a:rPr>
                        <a:t>AucuneNoteException</a:t>
                      </a:r>
                    </a:p>
                  </a:txBody>
                  <a:tcPr marL="54864" marR="54864" marT="18288" marB="18288" anchor="ctr">
                    <a:solidFill>
                      <a:srgbClr val="FFFFFF"/>
                    </a:solidFill>
                  </a:tcPr>
                </a:tc>
                <a:tc>
                  <a:txBody>
                    <a:bodyPr/>
                    <a:lstStyle/>
                    <a:p>
                      <a:r>
                        <a:rPr sz="1050" b="0">
                          <a:solidFill>
                            <a:srgbClr val="1B1F27"/>
                          </a:solidFill>
                          <a:latin typeface="Calibri"/>
                        </a:rPr>
                        <a:t>getNoteMoyenne</a:t>
                      </a:r>
                    </a:p>
                  </a:txBody>
                  <a:tcPr marL="54864" marR="54864" marT="18288" marB="18288" anchor="ctr">
                    <a:solidFill>
                      <a:srgbClr val="FFFFFF"/>
                    </a:solidFill>
                  </a:tcPr>
                </a:tc>
                <a:tc>
                  <a:txBody>
                    <a:bodyPr/>
                    <a:lstStyle/>
                    <a:p>
                      <a:r>
                        <a:rPr sz="1050" b="0">
                          <a:solidFill>
                            <a:srgbClr val="1B1F27"/>
                          </a:solidFill>
                          <a:latin typeface="Calibri"/>
                        </a:rPr>
                        <a:t>aucune note (le TP4 renvoyait 0.0)</a:t>
                      </a:r>
                    </a:p>
                  </a:txBody>
                  <a:tcPr marL="54864" marR="54864" marT="18288" marB="18288" anchor="ctr">
                    <a:solidFill>
                      <a:srgbClr val="FFFFFF"/>
                    </a:solidFill>
                  </a:tcPr>
                </a:tc>
              </a:tr>
              <a:tr h="402336">
                <a:tc>
                  <a:txBody>
                    <a:bodyPr/>
                    <a:lstStyle/>
                    <a:p>
                      <a:r>
                        <a:rPr sz="1050" b="1">
                          <a:solidFill>
                            <a:srgbClr val="1B1F27"/>
                          </a:solidFill>
                          <a:latin typeface="Calibri"/>
                        </a:rPr>
                        <a:t>PaiementImpossibleException</a:t>
                      </a:r>
                    </a:p>
                  </a:txBody>
                  <a:tcPr marL="54864" marR="54864" marT="18288" marB="18288" anchor="ctr">
                    <a:solidFill>
                      <a:srgbClr val="F3F5F9"/>
                    </a:solidFill>
                  </a:tcPr>
                </a:tc>
                <a:tc>
                  <a:txBody>
                    <a:bodyPr/>
                    <a:lstStyle/>
                    <a:p>
                      <a:r>
                        <a:rPr sz="1050" b="0">
                          <a:solidFill>
                            <a:srgbClr val="1B1F27"/>
                          </a:solidFill>
                          <a:latin typeface="Calibri"/>
                        </a:rPr>
                        <a:t>Client.payerCommande</a:t>
                      </a:r>
                    </a:p>
                  </a:txBody>
                  <a:tcPr marL="54864" marR="54864" marT="18288" marB="18288" anchor="ctr">
                    <a:solidFill>
                      <a:srgbClr val="F3F5F9"/>
                    </a:solidFill>
                  </a:tcPr>
                </a:tc>
                <a:tc>
                  <a:txBody>
                    <a:bodyPr/>
                    <a:lstStyle/>
                    <a:p>
                      <a:r>
                        <a:rPr sz="1050" b="0">
                          <a:solidFill>
                            <a:srgbClr val="1B1F27"/>
                          </a:solidFill>
                          <a:latin typeface="Calibri"/>
                        </a:rPr>
                        <a:t>commande vide ou déjà payée</a:t>
                      </a:r>
                    </a:p>
                  </a:txBody>
                  <a:tcPr marL="54864" marR="54864" marT="18288" marB="18288" anchor="ctr">
                    <a:solidFill>
                      <a:srgbClr val="F3F5F9"/>
                    </a:solidFill>
                  </a:tcPr>
                </a:tc>
              </a:tr>
              <a:tr h="402336">
                <a:tc>
                  <a:txBody>
                    <a:bodyPr/>
                    <a:lstStyle/>
                    <a:p>
                      <a:r>
                        <a:rPr sz="1050" b="1">
                          <a:solidFill>
                            <a:srgbClr val="1B1F27"/>
                          </a:solidFill>
                          <a:latin typeface="Calibri"/>
                        </a:rPr>
                        <a:t>CapaciteDepasseeException</a:t>
                      </a:r>
                    </a:p>
                  </a:txBody>
                  <a:tcPr marL="54864" marR="54864" marT="18288" marB="18288" anchor="ctr">
                    <a:solidFill>
                      <a:srgbClr val="FFFFFF"/>
                    </a:solidFill>
                  </a:tcPr>
                </a:tc>
                <a:tc>
                  <a:txBody>
                    <a:bodyPr/>
                    <a:lstStyle/>
                    <a:p>
                      <a:r>
                        <a:rPr sz="1050" b="0">
                          <a:solidFill>
                            <a:srgbClr val="1B1F27"/>
                          </a:solidFill>
                          <a:latin typeface="Calibri"/>
                        </a:rPr>
                        <a:t>Client.passerCommande, Restaurant.gererMenu</a:t>
                      </a:r>
                    </a:p>
                  </a:txBody>
                  <a:tcPr marL="54864" marR="54864" marT="18288" marB="18288" anchor="ctr">
                    <a:solidFill>
                      <a:srgbClr val="FFFFFF"/>
                    </a:solidFill>
                  </a:tcPr>
                </a:tc>
                <a:tc>
                  <a:txBody>
                    <a:bodyPr/>
                    <a:lstStyle/>
                    <a:p>
                      <a:r>
                        <a:rPr sz="1050" b="0">
                          <a:solidFill>
                            <a:srgbClr val="1B1F27"/>
                          </a:solidFill>
                          <a:latin typeface="Calibri"/>
                        </a:rPr>
                        <a:t>tableaux de 20 pleins</a:t>
                      </a:r>
                    </a:p>
                  </a:txBody>
                  <a:tcPr marL="54864" marR="54864" marT="18288" marB="18288" anchor="ctr">
                    <a:solidFill>
                      <a:srgbClr val="FFFFFF"/>
                    </a:solidFill>
                  </a:tcPr>
                </a:tc>
              </a:tr>
              <a:tr h="402336">
                <a:tc>
                  <a:txBody>
                    <a:bodyPr/>
                    <a:lstStyle/>
                    <a:p>
                      <a:r>
                        <a:rPr sz="1050" b="1">
                          <a:solidFill>
                            <a:srgbClr val="1B1F27"/>
                          </a:solidFill>
                          <a:latin typeface="Calibri"/>
                        </a:rPr>
                        <a:t>LivreurIndisponibleException</a:t>
                      </a:r>
                    </a:p>
                  </a:txBody>
                  <a:tcPr marL="54864" marR="54864" marT="18288" marB="18288" anchor="ctr">
                    <a:solidFill>
                      <a:srgbClr val="F3F5F9"/>
                    </a:solidFill>
                  </a:tcPr>
                </a:tc>
                <a:tc>
                  <a:txBody>
                    <a:bodyPr/>
                    <a:lstStyle/>
                    <a:p>
                      <a:r>
                        <a:rPr sz="1050" b="0">
                          <a:solidFill>
                            <a:srgbClr val="1B1F27"/>
                          </a:solidFill>
                          <a:latin typeface="Calibri"/>
                        </a:rPr>
                        <a:t>Livreur.accepterLivraison</a:t>
                      </a:r>
                    </a:p>
                  </a:txBody>
                  <a:tcPr marL="54864" marR="54864" marT="18288" marB="18288" anchor="ctr">
                    <a:solidFill>
                      <a:srgbClr val="F3F5F9"/>
                    </a:solidFill>
                  </a:tcPr>
                </a:tc>
                <a:tc>
                  <a:txBody>
                    <a:bodyPr/>
                    <a:lstStyle/>
                    <a:p>
                      <a:r>
                        <a:rPr sz="1050" b="0">
                          <a:solidFill>
                            <a:srgbClr val="1B1F27"/>
                          </a:solidFill>
                          <a:latin typeface="Calibri"/>
                        </a:rPr>
                        <a:t>livreur déjà occupé</a:t>
                      </a:r>
                    </a:p>
                  </a:txBody>
                  <a:tcPr marL="54864" marR="54864" marT="18288" marB="18288" anchor="ctr">
                    <a:solidFill>
                      <a:srgbClr val="F3F5F9"/>
                    </a:solidFill>
                  </a:tcPr>
                </a:tc>
              </a:tr>
              <a:tr h="402336">
                <a:tc>
                  <a:txBody>
                    <a:bodyPr/>
                    <a:lstStyle/>
                    <a:p>
                      <a:r>
                        <a:rPr sz="1050" b="1">
                          <a:solidFill>
                            <a:srgbClr val="1B1F27"/>
                          </a:solidFill>
                          <a:latin typeface="Calibri"/>
                        </a:rPr>
                        <a:t>PlatIndisponibleException</a:t>
                      </a:r>
                    </a:p>
                  </a:txBody>
                  <a:tcPr marL="54864" marR="54864" marT="18288" marB="18288" anchor="ctr">
                    <a:solidFill>
                      <a:srgbClr val="FFFFFF"/>
                    </a:solidFill>
                  </a:tcPr>
                </a:tc>
                <a:tc>
                  <a:txBody>
                    <a:bodyPr/>
                    <a:lstStyle/>
                    <a:p>
                      <a:r>
                        <a:rPr sz="1050" b="0">
                          <a:solidFill>
                            <a:srgbClr val="1B1F27"/>
                          </a:solidFill>
                          <a:latin typeface="Calibri"/>
                        </a:rPr>
                        <a:t>Commande.ajouterPlat (et Panier)</a:t>
                      </a:r>
                    </a:p>
                  </a:txBody>
                  <a:tcPr marL="54864" marR="54864" marT="18288" marB="18288" anchor="ctr">
                    <a:solidFill>
                      <a:srgbClr val="FFFFFF"/>
                    </a:solidFill>
                  </a:tcPr>
                </a:tc>
                <a:tc>
                  <a:txBody>
                    <a:bodyPr/>
                    <a:lstStyle/>
                    <a:p>
                      <a:r>
                        <a:rPr sz="1050" b="0">
                          <a:solidFill>
                            <a:srgbClr val="1B1F27"/>
                          </a:solidFill>
                          <a:latin typeface="Calibri"/>
                        </a:rPr>
                        <a:t>plat absent du menu</a:t>
                      </a:r>
                    </a:p>
                  </a:txBody>
                  <a:tcPr marL="54864" marR="54864" marT="18288" marB="18288" anchor="ctr">
                    <a:solidFill>
                      <a:srgbClr val="FFFFFF"/>
                    </a:solidFill>
                  </a:tcPr>
                </a:tc>
              </a:tr>
              <a:tr h="402336">
                <a:tc>
                  <a:txBody>
                    <a:bodyPr/>
                    <a:lstStyle/>
                    <a:p>
                      <a:r>
                        <a:rPr sz="1050" b="1">
                          <a:solidFill>
                            <a:srgbClr val="1B1F27"/>
                          </a:solidFill>
                          <a:latin typeface="Calibri"/>
                        </a:rPr>
                        <a:t>CommandeVideException</a:t>
                      </a:r>
                    </a:p>
                  </a:txBody>
                  <a:tcPr marL="54864" marR="54864" marT="18288" marB="18288" anchor="ctr">
                    <a:solidFill>
                      <a:srgbClr val="F3F5F9"/>
                    </a:solidFill>
                  </a:tcPr>
                </a:tc>
                <a:tc>
                  <a:txBody>
                    <a:bodyPr/>
                    <a:lstStyle/>
                    <a:p>
                      <a:r>
                        <a:rPr sz="1050" b="0">
                          <a:solidFill>
                            <a:srgbClr val="1B1F27"/>
                          </a:solidFill>
                          <a:latin typeface="Calibri"/>
                        </a:rPr>
                        <a:t>Commande.valider</a:t>
                      </a:r>
                    </a:p>
                  </a:txBody>
                  <a:tcPr marL="54864" marR="54864" marT="18288" marB="18288" anchor="ctr">
                    <a:solidFill>
                      <a:srgbClr val="F3F5F9"/>
                    </a:solidFill>
                  </a:tcPr>
                </a:tc>
                <a:tc>
                  <a:txBody>
                    <a:bodyPr/>
                    <a:lstStyle/>
                    <a:p>
                      <a:r>
                        <a:rPr sz="1050" b="0">
                          <a:solidFill>
                            <a:srgbClr val="1B1F27"/>
                          </a:solidFill>
                          <a:latin typeface="Calibri"/>
                        </a:rPr>
                        <a:t>aucun plat</a:t>
                      </a:r>
                    </a:p>
                  </a:txBody>
                  <a:tcPr marL="54864" marR="54864" marT="18288" marB="18288" anchor="ctr">
                    <a:solidFill>
                      <a:srgbClr val="F3F5F9"/>
                    </a:solidFill>
                  </a:tcPr>
                </a:tc>
              </a:tr>
              <a:tr h="402336">
                <a:tc>
                  <a:txBody>
                    <a:bodyPr/>
                    <a:lstStyle/>
                    <a:p>
                      <a:r>
                        <a:rPr sz="1050" b="1">
                          <a:solidFill>
                            <a:srgbClr val="1B1F27"/>
                          </a:solidFill>
                          <a:latin typeface="Calibri"/>
                        </a:rPr>
                        <a:t>EtatLivraisonException</a:t>
                      </a:r>
                    </a:p>
                  </a:txBody>
                  <a:tcPr marL="54864" marR="54864" marT="18288" marB="18288" anchor="ctr">
                    <a:solidFill>
                      <a:srgbClr val="FFFFFF"/>
                    </a:solidFill>
                  </a:tcPr>
                </a:tc>
                <a:tc>
                  <a:txBody>
                    <a:bodyPr/>
                    <a:lstStyle/>
                    <a:p>
                      <a:r>
                        <a:rPr sz="1050" b="0">
                          <a:solidFill>
                            <a:srgbClr val="1B1F27"/>
                          </a:solidFill>
                          <a:latin typeface="Calibri"/>
                        </a:rPr>
                        <a:t>Livraison.demarrer / terminer</a:t>
                      </a:r>
                    </a:p>
                  </a:txBody>
                  <a:tcPr marL="54864" marR="54864" marT="18288" marB="18288" anchor="ctr">
                    <a:solidFill>
                      <a:srgbClr val="FFFFFF"/>
                    </a:solidFill>
                  </a:tcPr>
                </a:tc>
                <a:tc>
                  <a:txBody>
                    <a:bodyPr/>
                    <a:lstStyle/>
                    <a:p>
                      <a:r>
                        <a:rPr sz="1050" b="0">
                          <a:solidFill>
                            <a:srgbClr val="1B1F27"/>
                          </a:solidFill>
                          <a:latin typeface="Calibri"/>
                        </a:rPr>
                        <a:t>étape dans le mauvais ordre</a:t>
                      </a:r>
                    </a:p>
                  </a:txBody>
                  <a:tcPr marL="54864" marR="54864" marT="18288" marB="18288" anchor="ctr">
                    <a:solidFill>
                      <a:srgbClr val="FFFFFF"/>
                    </a:solidFill>
                  </a:tcPr>
                </a:tc>
              </a:tr>
              <a:tr h="402336">
                <a:tc>
                  <a:txBody>
                    <a:bodyPr/>
                    <a:lstStyle/>
                    <a:p>
                      <a:r>
                        <a:rPr sz="1050" b="1">
                          <a:solidFill>
                            <a:srgbClr val="1B1F27"/>
                          </a:solidFill>
                          <a:latin typeface="Calibri"/>
                        </a:rPr>
                        <a:t>FormatFichierException</a:t>
                      </a:r>
                    </a:p>
                  </a:txBody>
                  <a:tcPr marL="54864" marR="54864" marT="18288" marB="18288" anchor="ctr">
                    <a:solidFill>
                      <a:srgbClr val="F3F5F9"/>
                    </a:solidFill>
                  </a:tcPr>
                </a:tc>
                <a:tc>
                  <a:txBody>
                    <a:bodyPr/>
                    <a:lstStyle/>
                    <a:p>
                      <a:r>
                        <a:rPr sz="1050" b="0">
                          <a:solidFill>
                            <a:srgbClr val="1B1F27"/>
                          </a:solidFill>
                          <a:latin typeface="Calibri"/>
                        </a:rPr>
                        <a:t>Restaurant.chargerMenu (Q2)</a:t>
                      </a:r>
                    </a:p>
                  </a:txBody>
                  <a:tcPr marL="54864" marR="54864" marT="18288" marB="18288" anchor="ctr">
                    <a:solidFill>
                      <a:srgbClr val="F3F5F9"/>
                    </a:solidFill>
                  </a:tcPr>
                </a:tc>
                <a:tc>
                  <a:txBody>
                    <a:bodyPr/>
                    <a:lstStyle/>
                    <a:p>
                      <a:r>
                        <a:rPr sz="1050" b="0">
                          <a:solidFill>
                            <a:srgbClr val="1B1F27"/>
                          </a:solidFill>
                          <a:latin typeface="Calibri"/>
                        </a:rPr>
                        <a:t>ligne du fichier mal formée</a:t>
                      </a:r>
                    </a:p>
                  </a:txBody>
                  <a:tcPr marL="54864" marR="54864" marT="18288" marB="18288" anchor="ctr">
                    <a:solidFill>
                      <a:srgbClr val="F3F5F9"/>
                    </a:solidFill>
                  </a:tcPr>
                </a:tc>
              </a:tr>
            </a:tbl>
          </a:graphicData>
        </a:graphic>
      </p:graphicFrame>
      <p:sp>
        <p:nvSpPr>
          <p:cNvPr id="9" name="TextBox 8"/>
          <p:cNvSpPr txBox="1"/>
          <p:nvPr/>
        </p:nvSpPr>
        <p:spPr>
          <a:xfrm>
            <a:off x="365760" y="5440680"/>
            <a:ext cx="6949440" cy="1005840"/>
          </a:xfrm>
          <a:prstGeom prst="rect">
            <a:avLst/>
          </a:prstGeom>
          <a:noFill/>
        </p:spPr>
        <p:txBody>
          <a:bodyPr wrap="square" anchor="t" lIns="45720" rIns="45720" tIns="27432" bIns="27432">
            <a:spAutoFit/>
          </a:bodyPr>
          <a:lstStyle/>
          <a:p>
            <a:pPr>
              <a:spcAft>
                <a:spcPts val="500"/>
              </a:spcAft>
            </a:pPr>
            <a:r>
              <a:rPr sz="1250" b="0">
                <a:solidFill>
                  <a:srgbClr val="555B66"/>
                </a:solidFill>
                <a:latin typeface="Calibri"/>
              </a:rPr>
              <a:t>• Non vérifiée, conservée du TP4 : IllegalArgumentException (plat null) — c'est un bug du code appelant, pas une situation à « gérer ».</a:t>
            </a:r>
          </a:p>
          <a:p>
            <a:pPr>
              <a:spcAft>
                <a:spcPts val="500"/>
              </a:spcAft>
            </a:pPr>
            <a:r>
              <a:rPr sz="1250" b="0">
                <a:solidFill>
                  <a:srgbClr val="555B66"/>
                </a:solidFill>
                <a:latin typeface="Calibri"/>
              </a:rPr>
              <a:t>• Rien n'est attrapé dans les méthodes métier : elles lèvent ou propagent (throws), le Main attrape.</a:t>
            </a:r>
          </a:p>
        </p:txBody>
      </p:sp>
      <p:pic>
        <p:nvPicPr>
          <p:cNvPr id="10" name="Picture 9" descr="q1_code_hierarchie.png"/>
          <p:cNvPicPr>
            <a:picLocks noChangeAspect="1"/>
          </p:cNvPicPr>
          <p:nvPr/>
        </p:nvPicPr>
        <p:blipFill>
          <a:blip r:embed="rId2"/>
          <a:stretch>
            <a:fillRect/>
          </a:stretch>
        </p:blipFill>
        <p:spPr>
          <a:xfrm>
            <a:off x="8240489" y="1097280"/>
            <a:ext cx="2904301" cy="3017520"/>
          </a:xfrm>
          <a:prstGeom prst="rect">
            <a:avLst/>
          </a:prstGeom>
          <a:ln w="9525">
            <a:solidFill>
              <a:srgbClr val="C4CAD4"/>
            </a:solidFill>
          </a:ln>
        </p:spPr>
      </p:pic>
      <p:sp>
        <p:nvSpPr>
          <p:cNvPr id="11" name="TextBox 10"/>
          <p:cNvSpPr txBox="1"/>
          <p:nvPr/>
        </p:nvSpPr>
        <p:spPr>
          <a:xfrm>
            <a:off x="7498079" y="4133087"/>
            <a:ext cx="438912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 — la hiérarchie et l'interface Evaluable avec throws</a:t>
            </a:r>
          </a:p>
        </p:txBody>
      </p:sp>
      <p:sp>
        <p:nvSpPr>
          <p:cNvPr id="12" name="TextBox 11"/>
          <p:cNvSpPr txBox="1"/>
          <p:nvPr/>
        </p:nvSpPr>
        <p:spPr>
          <a:xfrm>
            <a:off x="7498079" y="4434840"/>
            <a:ext cx="4389120" cy="1828800"/>
          </a:xfrm>
          <a:prstGeom prst="rect">
            <a:avLst/>
          </a:prstGeom>
          <a:noFill/>
        </p:spPr>
        <p:txBody>
          <a:bodyPr wrap="square" anchor="t" lIns="45720" rIns="45720" tIns="27432" bIns="27432">
            <a:spAutoFit/>
          </a:bodyPr>
          <a:lstStyle/>
          <a:p>
            <a:pPr>
              <a:spcAft>
                <a:spcPts val="500"/>
              </a:spcAft>
            </a:pPr>
            <a:r>
              <a:rPr sz="1400" b="1">
                <a:solidFill>
                  <a:srgbClr val="1F3A5F"/>
                </a:solidFill>
                <a:latin typeface="Calibri"/>
              </a:rPr>
              <a:t>Pourquoi vérifiées (checked) ?</a:t>
            </a:r>
          </a:p>
          <a:p>
            <a:pPr>
              <a:spcAft>
                <a:spcPts val="500"/>
              </a:spcAft>
            </a:pPr>
            <a:r>
              <a:rPr sz="1250" b="0">
                <a:solidFill>
                  <a:srgbClr val="1B1F27"/>
                </a:solidFill>
                <a:latin typeface="Calibri"/>
              </a:rPr>
              <a:t>• Erreurs prévisibles et récupérables : le compilateur oblige à les traiter.</a:t>
            </a:r>
          </a:p>
          <a:p>
            <a:pPr>
              <a:spcAft>
                <a:spcPts val="500"/>
              </a:spcAft>
            </a:pPr>
            <a:r>
              <a:rPr sz="1250" b="0">
                <a:solidFill>
                  <a:srgbClr val="1B1F27"/>
                </a:solidFill>
                <a:latin typeface="Calibri"/>
              </a:rPr>
              <a:t>• Une classe mère FastBiteException : un seul catch suffit pour toutes les erreurs métier.</a:t>
            </a:r>
          </a:p>
          <a:p>
            <a:pPr>
              <a:spcAft>
                <a:spcPts val="500"/>
              </a:spcAft>
            </a:pPr>
            <a:r>
              <a:rPr sz="1250" b="0">
                <a:solidFill>
                  <a:srgbClr val="1B1F27"/>
                </a:solidFill>
                <a:latin typeface="Calibri"/>
              </a:rPr>
              <a:t>• Changement TP4 : IllegalArgumentException → NoteInvalideException ; moyenne 0.0 → AucuneNoteException.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Q1 — UML mis à jour (base : notre diagramme TP4)</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4</a:t>
            </a:r>
          </a:p>
        </p:txBody>
      </p:sp>
      <p:pic>
        <p:nvPicPr>
          <p:cNvPr id="8" name="Picture 7" descr="TP5_Q1_exceptions.png"/>
          <p:cNvPicPr>
            <a:picLocks noChangeAspect="1"/>
          </p:cNvPicPr>
          <p:nvPr/>
        </p:nvPicPr>
        <p:blipFill>
          <a:blip r:embed="rId2"/>
          <a:stretch>
            <a:fillRect/>
          </a:stretch>
        </p:blipFill>
        <p:spPr>
          <a:xfrm>
            <a:off x="427693" y="1051560"/>
            <a:ext cx="8471492" cy="5120640"/>
          </a:xfrm>
          <a:prstGeom prst="rect">
            <a:avLst/>
          </a:prstGeom>
          <a:ln w="9525">
            <a:solidFill>
              <a:srgbClr val="C4CAD4"/>
            </a:solidFill>
          </a:ln>
        </p:spPr>
      </p:pic>
      <p:sp>
        <p:nvSpPr>
          <p:cNvPr id="9" name="TextBox 8"/>
          <p:cNvSpPr txBox="1"/>
          <p:nvPr/>
        </p:nvSpPr>
        <p:spPr>
          <a:xfrm>
            <a:off x="228600" y="6190488"/>
            <a:ext cx="886968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2 — notre diagramme TP4 complété : « throws » dans les signatures + hiérarchie des exceptions</a:t>
            </a:r>
          </a:p>
        </p:txBody>
      </p:sp>
      <p:pic>
        <p:nvPicPr>
          <p:cNvPr id="10" name="Picture 9" descr="TP4_Q2_base_ancien_diagramme.png"/>
          <p:cNvPicPr>
            <a:picLocks noChangeAspect="1"/>
          </p:cNvPicPr>
          <p:nvPr/>
        </p:nvPicPr>
        <p:blipFill>
          <a:blip r:embed="rId3"/>
          <a:stretch>
            <a:fillRect/>
          </a:stretch>
        </p:blipFill>
        <p:spPr>
          <a:xfrm>
            <a:off x="9359914" y="1097280"/>
            <a:ext cx="2448531" cy="1828799"/>
          </a:xfrm>
          <a:prstGeom prst="rect">
            <a:avLst/>
          </a:prstGeom>
          <a:ln w="9525">
            <a:solidFill>
              <a:srgbClr val="C4CAD4"/>
            </a:solidFill>
          </a:ln>
        </p:spPr>
      </p:pic>
      <p:sp>
        <p:nvSpPr>
          <p:cNvPr id="11" name="TextBox 10"/>
          <p:cNvSpPr txBox="1"/>
          <p:nvPr/>
        </p:nvSpPr>
        <p:spPr>
          <a:xfrm>
            <a:off x="9235440" y="2944368"/>
            <a:ext cx="269748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Avant : diagramme TP4 (base)</a:t>
            </a:r>
          </a:p>
        </p:txBody>
      </p:sp>
      <p:sp>
        <p:nvSpPr>
          <p:cNvPr id="12" name="TextBox 11"/>
          <p:cNvSpPr txBox="1"/>
          <p:nvPr/>
        </p:nvSpPr>
        <p:spPr>
          <a:xfrm>
            <a:off x="9189720" y="3337560"/>
            <a:ext cx="2834640" cy="3108960"/>
          </a:xfrm>
          <a:prstGeom prst="rect">
            <a:avLst/>
          </a:prstGeom>
          <a:noFill/>
        </p:spPr>
        <p:txBody>
          <a:bodyPr wrap="square" anchor="t" lIns="45720" rIns="45720" tIns="27432" bIns="27432">
            <a:spAutoFit/>
          </a:bodyPr>
          <a:lstStyle/>
          <a:p>
            <a:pPr>
              <a:spcAft>
                <a:spcPts val="500"/>
              </a:spcAft>
            </a:pPr>
            <a:r>
              <a:rPr sz="1400" b="1">
                <a:solidFill>
                  <a:srgbClr val="1F3A5F"/>
                </a:solidFill>
                <a:latin typeface="Calibri"/>
              </a:rPr>
              <a:t>Ce qui change</a:t>
            </a:r>
          </a:p>
          <a:p>
            <a:pPr>
              <a:spcAft>
                <a:spcPts val="500"/>
              </a:spcAft>
            </a:pPr>
            <a:r>
              <a:rPr sz="1100" b="0">
                <a:solidFill>
                  <a:srgbClr val="1B1F27"/>
                </a:solidFill>
                <a:latin typeface="Calibri"/>
              </a:rPr>
              <a:t>• « throws X » rouge : exceptions que la méthode peut lever.</a:t>
            </a:r>
          </a:p>
          <a:p>
            <a:pPr>
              <a:spcAft>
                <a:spcPts val="500"/>
              </a:spcAft>
            </a:pPr>
            <a:r>
              <a:rPr sz="1100" b="0">
                <a:solidFill>
                  <a:srgbClr val="1B1F27"/>
                </a:solidFill>
                <a:latin typeface="Calibri"/>
              </a:rPr>
              <a:t>• Colonne orange : FastBiteException + 9 sous-classes.</a:t>
            </a:r>
          </a:p>
          <a:p>
            <a:pPr>
              <a:spcAft>
                <a:spcPts val="500"/>
              </a:spcAft>
            </a:pPr>
            <a:r>
              <a:rPr sz="1100" b="0">
                <a:solidFill>
                  <a:srgbClr val="1B1F27"/>
                </a:solidFill>
                <a:latin typeface="Calibri"/>
              </a:rPr>
              <a:t>• Panier (TP4 Q3) ajouté ; il redéclare le throws de Commande.</a:t>
            </a:r>
          </a:p>
          <a:p>
            <a:pPr>
              <a:spcAft>
                <a:spcPts val="500"/>
              </a:spcAft>
            </a:pPr>
            <a:r>
              <a:rPr sz="1100" b="0">
                <a:solidFill>
                  <a:srgbClr val="1B1F27"/>
                </a:solidFill>
                <a:latin typeface="Calibri"/>
              </a:rPr>
              <a:t>• Signatures alignées sur le code réel.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Q1 — Lever, propager, attraper : code et résultat</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5</a:t>
            </a:r>
          </a:p>
        </p:txBody>
      </p:sp>
      <p:pic>
        <p:nvPicPr>
          <p:cNvPr id="8" name="Picture 7" descr="q1_code_throw.png"/>
          <p:cNvPicPr>
            <a:picLocks noChangeAspect="1"/>
          </p:cNvPicPr>
          <p:nvPr/>
        </p:nvPicPr>
        <p:blipFill>
          <a:blip r:embed="rId2"/>
          <a:stretch>
            <a:fillRect/>
          </a:stretch>
        </p:blipFill>
        <p:spPr>
          <a:xfrm>
            <a:off x="522396" y="1097280"/>
            <a:ext cx="5356007" cy="5029200"/>
          </a:xfrm>
          <a:prstGeom prst="rect">
            <a:avLst/>
          </a:prstGeom>
          <a:ln w="9525">
            <a:solidFill>
              <a:srgbClr val="C4CAD4"/>
            </a:solidFill>
          </a:ln>
        </p:spPr>
      </p:pic>
      <p:sp>
        <p:nvSpPr>
          <p:cNvPr id="9" name="TextBox 8"/>
          <p:cNvSpPr txBox="1"/>
          <p:nvPr/>
        </p:nvSpPr>
        <p:spPr>
          <a:xfrm>
            <a:off x="274320" y="6144768"/>
            <a:ext cx="58521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3 — throw / throws dans Livreur et Commande</a:t>
            </a:r>
          </a:p>
        </p:txBody>
      </p:sp>
      <p:pic>
        <p:nvPicPr>
          <p:cNvPr id="10" name="Picture 9" descr="q1_console_B.png"/>
          <p:cNvPicPr>
            <a:picLocks noChangeAspect="1"/>
          </p:cNvPicPr>
          <p:nvPr/>
        </p:nvPicPr>
        <p:blipFill>
          <a:blip r:embed="rId3"/>
          <a:stretch>
            <a:fillRect/>
          </a:stretch>
        </p:blipFill>
        <p:spPr>
          <a:xfrm>
            <a:off x="6309360" y="1097280"/>
            <a:ext cx="5623560" cy="4408299"/>
          </a:xfrm>
          <a:prstGeom prst="rect">
            <a:avLst/>
          </a:prstGeom>
          <a:ln w="9525">
            <a:solidFill>
              <a:srgbClr val="C4CAD4"/>
            </a:solidFill>
          </a:ln>
        </p:spPr>
      </p:pic>
      <p:sp>
        <p:nvSpPr>
          <p:cNvPr id="11" name="TextBox 10"/>
          <p:cNvSpPr txBox="1"/>
          <p:nvPr/>
        </p:nvSpPr>
        <p:spPr>
          <a:xfrm>
            <a:off x="6309360" y="5523867"/>
            <a:ext cx="56235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4 — chaque exception est levée puis attrapée (B1 à B8) ; finally exécuté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Q2 — Écrire et lire un fichier texte</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6</a:t>
            </a:r>
          </a:p>
        </p:txBody>
      </p:sp>
      <p:sp>
        <p:nvSpPr>
          <p:cNvPr id="8" name="Rectangle 7"/>
          <p:cNvSpPr/>
          <p:nvPr/>
        </p:nvSpPr>
        <p:spPr>
          <a:xfrm>
            <a:off x="365760" y="1143000"/>
            <a:ext cx="5394960" cy="1417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70432"/>
            <a:ext cx="5212080" cy="1371600"/>
          </a:xfrm>
          <a:prstGeom prst="rect">
            <a:avLst/>
          </a:prstGeom>
          <a:noFill/>
        </p:spPr>
        <p:txBody>
          <a:bodyPr wrap="square" anchor="t" lIns="45720" rIns="45720" tIns="27432" bIns="27432">
            <a:spAutoFit/>
          </a:bodyPr>
          <a:lstStyle/>
          <a:p>
            <a:pPr>
              <a:spcAft>
                <a:spcPts val="500"/>
              </a:spcAft>
            </a:pPr>
            <a:r>
              <a:rPr sz="1400" b="1">
                <a:solidFill>
                  <a:srgbClr val="1F3A5F"/>
                </a:solidFill>
                <a:latin typeface="Calibri"/>
              </a:rPr>
              <a:t>Format du fichier (menu_chezmario.txt)</a:t>
            </a:r>
          </a:p>
          <a:p>
            <a:pPr>
              <a:spcAft>
                <a:spcPts val="500"/>
              </a:spcAft>
            </a:pPr>
            <a:r>
              <a:rPr sz="1250" b="0">
                <a:solidFill>
                  <a:srgbClr val="1B1F27"/>
                </a:solidFill>
                <a:latin typeface="Calibri"/>
              </a:rPr>
              <a:t>• 1 ligne = 1 plat, 4 champs séparés par « ; »</a:t>
            </a:r>
          </a:p>
          <a:p>
            <a:pPr>
              <a:spcAft>
                <a:spcPts val="500"/>
              </a:spcAft>
            </a:pPr>
            <a:r>
              <a:rPr sz="1250" b="1">
                <a:solidFill>
                  <a:srgbClr val="E85D04"/>
                </a:solidFill>
                <a:latin typeface="Calibri"/>
              </a:rPr>
              <a:t>• nom;prix;description;allergène1,allergène2</a:t>
            </a:r>
          </a:p>
          <a:p>
            <a:pPr>
              <a:spcAft>
                <a:spcPts val="500"/>
              </a:spcAft>
            </a:pPr>
            <a:r>
              <a:rPr sz="1250" b="0">
                <a:solidFill>
                  <a:srgbClr val="1B1F27"/>
                </a:solidFill>
                <a:latin typeface="Calibri"/>
              </a:rPr>
              <a:t>• prix avec point décimal ; allergènes séparés par « , » (vide = aucun)</a:t>
            </a:r>
          </a:p>
        </p:txBody>
      </p:sp>
      <p:pic>
        <p:nvPicPr>
          <p:cNvPr id="10" name="Picture 9" descr="q2_code_ecriture.png"/>
          <p:cNvPicPr>
            <a:picLocks noChangeAspect="1"/>
          </p:cNvPicPr>
          <p:nvPr/>
        </p:nvPicPr>
        <p:blipFill>
          <a:blip r:embed="rId2"/>
          <a:stretch>
            <a:fillRect/>
          </a:stretch>
        </p:blipFill>
        <p:spPr>
          <a:xfrm>
            <a:off x="483976" y="2651760"/>
            <a:ext cx="5158527" cy="2194560"/>
          </a:xfrm>
          <a:prstGeom prst="rect">
            <a:avLst/>
          </a:prstGeom>
          <a:ln w="9525">
            <a:solidFill>
              <a:srgbClr val="C4CAD4"/>
            </a:solidFill>
          </a:ln>
        </p:spPr>
      </p:pic>
      <p:sp>
        <p:nvSpPr>
          <p:cNvPr id="11" name="TextBox 10"/>
          <p:cNvSpPr txBox="1"/>
          <p:nvPr/>
        </p:nvSpPr>
        <p:spPr>
          <a:xfrm>
            <a:off x="274320" y="4864608"/>
            <a:ext cx="557784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5 — écriture : sauvegarderMenu (try-with-resources)</a:t>
            </a:r>
          </a:p>
        </p:txBody>
      </p:sp>
      <p:sp>
        <p:nvSpPr>
          <p:cNvPr id="12" name="TextBox 11"/>
          <p:cNvSpPr txBox="1"/>
          <p:nvPr/>
        </p:nvSpPr>
        <p:spPr>
          <a:xfrm>
            <a:off x="365760" y="5257800"/>
            <a:ext cx="5486400" cy="1188720"/>
          </a:xfrm>
          <a:prstGeom prst="rect">
            <a:avLst/>
          </a:prstGeom>
          <a:noFill/>
        </p:spPr>
        <p:txBody>
          <a:bodyPr wrap="square" anchor="t" lIns="45720" rIns="45720" tIns="27432" bIns="27432">
            <a:spAutoFit/>
          </a:bodyPr>
          <a:lstStyle/>
          <a:p>
            <a:pPr>
              <a:spcAft>
                <a:spcPts val="500"/>
              </a:spcAft>
            </a:pPr>
            <a:r>
              <a:rPr sz="1350" b="1">
                <a:solidFill>
                  <a:srgbClr val="1F3A5F"/>
                </a:solidFill>
                <a:latin typeface="Calibri"/>
              </a:rPr>
              <a:t>Pourquoi ces choix ?</a:t>
            </a:r>
          </a:p>
          <a:p>
            <a:pPr>
              <a:spcAft>
                <a:spcPts val="500"/>
              </a:spcAft>
            </a:pPr>
            <a:r>
              <a:rPr sz="1150" b="0">
                <a:solidFill>
                  <a:srgbClr val="1B1F27"/>
                </a:solidFill>
                <a:latin typeface="Calibri"/>
              </a:rPr>
              <a:t>• try-with-resources : le fichier est fermé même en cas d'erreur.</a:t>
            </a:r>
          </a:p>
          <a:p>
            <a:pPr>
              <a:spcAft>
                <a:spcPts val="500"/>
              </a:spcAft>
            </a:pPr>
            <a:r>
              <a:rPr sz="1150" b="0">
                <a:solidFill>
                  <a:srgbClr val="1B1F27"/>
                </a:solidFill>
                <a:latin typeface="Calibri"/>
              </a:rPr>
              <a:t>• IOException propagée (throws) : l'appelant décide quoi faire.</a:t>
            </a:r>
          </a:p>
        </p:txBody>
      </p:sp>
      <p:pic>
        <p:nvPicPr>
          <p:cNvPr id="13" name="Picture 12" descr="q2_code_lecture.png"/>
          <p:cNvPicPr>
            <a:picLocks noChangeAspect="1"/>
          </p:cNvPicPr>
          <p:nvPr/>
        </p:nvPicPr>
        <p:blipFill>
          <a:blip r:embed="rId3"/>
          <a:stretch>
            <a:fillRect/>
          </a:stretch>
        </p:blipFill>
        <p:spPr>
          <a:xfrm>
            <a:off x="5944886" y="1097280"/>
            <a:ext cx="5986747" cy="5074920"/>
          </a:xfrm>
          <a:prstGeom prst="rect">
            <a:avLst/>
          </a:prstGeom>
          <a:ln w="9525">
            <a:solidFill>
              <a:srgbClr val="C4CAD4"/>
            </a:solidFill>
          </a:ln>
        </p:spPr>
      </p:pic>
      <p:sp>
        <p:nvSpPr>
          <p:cNvPr id="14" name="TextBox 13"/>
          <p:cNvSpPr txBox="1"/>
          <p:nvPr/>
        </p:nvSpPr>
        <p:spPr>
          <a:xfrm>
            <a:off x="5943600" y="6190488"/>
            <a:ext cx="598932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6 — lecture : chargerMenu (split, FormatFichierException)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Q2 — Résultat et UML mis à jour</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7</a:t>
            </a:r>
          </a:p>
        </p:txBody>
      </p:sp>
      <p:pic>
        <p:nvPicPr>
          <p:cNvPr id="8" name="Picture 7" descr="TP5_Q2_fichier.png"/>
          <p:cNvPicPr>
            <a:picLocks noChangeAspect="1"/>
          </p:cNvPicPr>
          <p:nvPr/>
        </p:nvPicPr>
        <p:blipFill>
          <a:blip r:embed="rId2"/>
          <a:stretch>
            <a:fillRect/>
          </a:stretch>
        </p:blipFill>
        <p:spPr>
          <a:xfrm>
            <a:off x="476866" y="1051560"/>
            <a:ext cx="5904267" cy="3703320"/>
          </a:xfrm>
          <a:prstGeom prst="rect">
            <a:avLst/>
          </a:prstGeom>
          <a:ln w="9525">
            <a:solidFill>
              <a:srgbClr val="C4CAD4"/>
            </a:solidFill>
          </a:ln>
        </p:spPr>
      </p:pic>
      <p:sp>
        <p:nvSpPr>
          <p:cNvPr id="9" name="TextBox 8"/>
          <p:cNvSpPr txBox="1"/>
          <p:nvPr/>
        </p:nvSpPr>
        <p:spPr>
          <a:xfrm>
            <a:off x="228600" y="4773167"/>
            <a:ext cx="640080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7 — diagramme TP4 + sauvegarderMenu / chargerMenu / afficherMenu, IOException et FormatFichierException</a:t>
            </a:r>
          </a:p>
        </p:txBody>
      </p:sp>
      <p:pic>
        <p:nvPicPr>
          <p:cNvPr id="10" name="Picture 9" descr="q2_fichier_txt.png"/>
          <p:cNvPicPr>
            <a:picLocks noChangeAspect="1"/>
          </p:cNvPicPr>
          <p:nvPr/>
        </p:nvPicPr>
        <p:blipFill>
          <a:blip r:embed="rId3"/>
          <a:stretch>
            <a:fillRect/>
          </a:stretch>
        </p:blipFill>
        <p:spPr>
          <a:xfrm>
            <a:off x="352627" y="5102351"/>
            <a:ext cx="6152744" cy="1051560"/>
          </a:xfrm>
          <a:prstGeom prst="rect">
            <a:avLst/>
          </a:prstGeom>
          <a:ln w="9525">
            <a:solidFill>
              <a:srgbClr val="C4CAD4"/>
            </a:solidFill>
          </a:ln>
        </p:spPr>
      </p:pic>
      <p:sp>
        <p:nvSpPr>
          <p:cNvPr id="11" name="TextBox 10"/>
          <p:cNvSpPr txBox="1"/>
          <p:nvPr/>
        </p:nvSpPr>
        <p:spPr>
          <a:xfrm>
            <a:off x="228600" y="6172199"/>
            <a:ext cx="640080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8 — le fichier produit (menu_chezmario.txt)</a:t>
            </a:r>
          </a:p>
        </p:txBody>
      </p:sp>
      <p:pic>
        <p:nvPicPr>
          <p:cNvPr id="12" name="Picture 11" descr="q2_console.png"/>
          <p:cNvPicPr>
            <a:picLocks noChangeAspect="1"/>
          </p:cNvPicPr>
          <p:nvPr/>
        </p:nvPicPr>
        <p:blipFill>
          <a:blip r:embed="rId4"/>
          <a:stretch>
            <a:fillRect/>
          </a:stretch>
        </p:blipFill>
        <p:spPr>
          <a:xfrm>
            <a:off x="6766560" y="1097280"/>
            <a:ext cx="5166360" cy="4509619"/>
          </a:xfrm>
          <a:prstGeom prst="rect">
            <a:avLst/>
          </a:prstGeom>
          <a:ln w="9525">
            <a:solidFill>
              <a:srgbClr val="C4CAD4"/>
            </a:solidFill>
          </a:ln>
        </p:spPr>
      </p:pic>
      <p:sp>
        <p:nvSpPr>
          <p:cNvPr id="13" name="TextBox 12"/>
          <p:cNvSpPr txBox="1"/>
          <p:nvPr/>
        </p:nvSpPr>
        <p:spPr>
          <a:xfrm>
            <a:off x="6766560" y="5625187"/>
            <a:ext cx="51663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9 — écriture, relecture, affichage, puis 3 erreurs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Q3 — Sérialiser des restaurants</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8</a:t>
            </a:r>
          </a:p>
        </p:txBody>
      </p:sp>
      <p:pic>
        <p:nvPicPr>
          <p:cNvPr id="8" name="Picture 7" descr="q3_code_serializable.png"/>
          <p:cNvPicPr>
            <a:picLocks noChangeAspect="1"/>
          </p:cNvPicPr>
          <p:nvPr/>
        </p:nvPicPr>
        <p:blipFill>
          <a:blip r:embed="rId2"/>
          <a:stretch>
            <a:fillRect/>
          </a:stretch>
        </p:blipFill>
        <p:spPr>
          <a:xfrm>
            <a:off x="274320" y="1097280"/>
            <a:ext cx="5669280" cy="2200449"/>
          </a:xfrm>
          <a:prstGeom prst="rect">
            <a:avLst/>
          </a:prstGeom>
          <a:ln w="9525">
            <a:solidFill>
              <a:srgbClr val="C4CAD4"/>
            </a:solidFill>
          </a:ln>
        </p:spPr>
      </p:pic>
      <p:sp>
        <p:nvSpPr>
          <p:cNvPr id="9" name="TextBox 8"/>
          <p:cNvSpPr txBox="1"/>
          <p:nvPr/>
        </p:nvSpPr>
        <p:spPr>
          <a:xfrm>
            <a:off x="274320" y="3316017"/>
            <a:ext cx="566928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10 — Serializable, serialVersionUID, champ transient</a:t>
            </a:r>
          </a:p>
        </p:txBody>
      </p:sp>
      <p:sp>
        <p:nvSpPr>
          <p:cNvPr id="10" name="TextBox 9"/>
          <p:cNvSpPr txBox="1"/>
          <p:nvPr/>
        </p:nvSpPr>
        <p:spPr>
          <a:xfrm>
            <a:off x="365760" y="4160520"/>
            <a:ext cx="5577840" cy="2286000"/>
          </a:xfrm>
          <a:prstGeom prst="rect">
            <a:avLst/>
          </a:prstGeom>
          <a:noFill/>
        </p:spPr>
        <p:txBody>
          <a:bodyPr wrap="square" anchor="t" lIns="45720" rIns="45720" tIns="27432" bIns="27432">
            <a:spAutoFit/>
          </a:bodyPr>
          <a:lstStyle/>
          <a:p>
            <a:pPr>
              <a:spcAft>
                <a:spcPts val="500"/>
              </a:spcAft>
            </a:pPr>
            <a:r>
              <a:rPr sz="1400" b="1">
                <a:solidFill>
                  <a:srgbClr val="1F3A5F"/>
                </a:solidFill>
                <a:latin typeface="Calibri"/>
              </a:rPr>
              <a:t>Pourquoi ces choix ?</a:t>
            </a:r>
          </a:p>
          <a:p>
            <a:pPr>
              <a:spcAft>
                <a:spcPts val="500"/>
              </a:spcAft>
            </a:pPr>
            <a:r>
              <a:rPr sz="1200" b="0">
                <a:solidFill>
                  <a:srgbClr val="1B1F27"/>
                </a:solidFill>
                <a:latin typeface="Calibri"/>
              </a:rPr>
              <a:t>• Serializable sur Restaurant ET sur Plat : un objet n'est sérialisable que si tout ce qu'il contient l'est.</a:t>
            </a:r>
          </a:p>
          <a:p>
            <a:pPr>
              <a:spcAft>
                <a:spcPts val="500"/>
              </a:spcAft>
            </a:pPr>
            <a:r>
              <a:rPr sz="1200" b="0">
                <a:solidFill>
                  <a:srgbClr val="1B1F27"/>
                </a:solidFill>
                <a:latin typeface="Calibri"/>
              </a:rPr>
              <a:t>• serialVersionUID : fixe la version de la classe pour la relecture.</a:t>
            </a:r>
          </a:p>
          <a:p>
            <a:pPr>
              <a:spcAft>
                <a:spcPts val="500"/>
              </a:spcAft>
            </a:pPr>
            <a:r>
              <a:rPr sz="1200" b="0">
                <a:solidFill>
                  <a:srgbClr val="1B1F27"/>
                </a:solidFill>
                <a:latin typeface="Calibri"/>
              </a:rPr>
              <a:t>• transient : le compteur de session n'est pas enregistré (0 après relecture).</a:t>
            </a:r>
          </a:p>
          <a:p>
            <a:pPr>
              <a:spcAft>
                <a:spcPts val="500"/>
              </a:spcAft>
            </a:pPr>
            <a:r>
              <a:rPr sz="1200" b="0">
                <a:solidFill>
                  <a:srgbClr val="1B1F27"/>
                </a:solidFill>
                <a:latin typeface="Calibri"/>
              </a:rPr>
              <a:t>• Client, Livreur, Commande… non sérialisables : ce sont des sessions, pas des données.</a:t>
            </a:r>
          </a:p>
        </p:txBody>
      </p:sp>
      <p:pic>
        <p:nvPicPr>
          <p:cNvPr id="11" name="Picture 10" descr="q3_code_ser.png"/>
          <p:cNvPicPr>
            <a:picLocks noChangeAspect="1"/>
          </p:cNvPicPr>
          <p:nvPr/>
        </p:nvPicPr>
        <p:blipFill>
          <a:blip r:embed="rId3"/>
          <a:stretch>
            <a:fillRect/>
          </a:stretch>
        </p:blipFill>
        <p:spPr>
          <a:xfrm>
            <a:off x="6126480" y="1097280"/>
            <a:ext cx="5806439" cy="2716232"/>
          </a:xfrm>
          <a:prstGeom prst="rect">
            <a:avLst/>
          </a:prstGeom>
          <a:ln w="9525">
            <a:solidFill>
              <a:srgbClr val="C4CAD4"/>
            </a:solidFill>
          </a:ln>
        </p:spPr>
      </p:pic>
      <p:sp>
        <p:nvSpPr>
          <p:cNvPr id="12" name="TextBox 11"/>
          <p:cNvSpPr txBox="1"/>
          <p:nvPr/>
        </p:nvSpPr>
        <p:spPr>
          <a:xfrm>
            <a:off x="6126480" y="3831800"/>
            <a:ext cx="580644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11 — writeObject / readObject (cast + ClassNotFoundException)</a:t>
            </a:r>
          </a:p>
        </p:txBody>
      </p:sp>
      <p:pic>
        <p:nvPicPr>
          <p:cNvPr id="13" name="Picture 12" descr="q3_fichier_ser.png"/>
          <p:cNvPicPr>
            <a:picLocks noChangeAspect="1"/>
          </p:cNvPicPr>
          <p:nvPr/>
        </p:nvPicPr>
        <p:blipFill>
          <a:blip r:embed="rId4"/>
          <a:stretch>
            <a:fillRect/>
          </a:stretch>
        </p:blipFill>
        <p:spPr>
          <a:xfrm>
            <a:off x="6979003" y="4160984"/>
            <a:ext cx="3781353" cy="1828800"/>
          </a:xfrm>
          <a:prstGeom prst="rect">
            <a:avLst/>
          </a:prstGeom>
          <a:ln w="9525">
            <a:solidFill>
              <a:srgbClr val="C4CAD4"/>
            </a:solidFill>
          </a:ln>
        </p:spPr>
      </p:pic>
      <p:sp>
        <p:nvSpPr>
          <p:cNvPr id="14" name="TextBox 13"/>
          <p:cNvSpPr txBox="1"/>
          <p:nvPr/>
        </p:nvSpPr>
        <p:spPr>
          <a:xfrm>
            <a:off x="6309360" y="6008072"/>
            <a:ext cx="512064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12 — le fichier .ser (binaire, signature ac ed 00 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Q3 — Résultat et UML mis à jour</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9</a:t>
            </a:r>
          </a:p>
        </p:txBody>
      </p:sp>
      <p:pic>
        <p:nvPicPr>
          <p:cNvPr id="8" name="Picture 7" descr="TP5_Q3_serialisation.png"/>
          <p:cNvPicPr>
            <a:picLocks noChangeAspect="1"/>
          </p:cNvPicPr>
          <p:nvPr/>
        </p:nvPicPr>
        <p:blipFill>
          <a:blip r:embed="rId2"/>
          <a:stretch>
            <a:fillRect/>
          </a:stretch>
        </p:blipFill>
        <p:spPr>
          <a:xfrm>
            <a:off x="228600" y="1051560"/>
            <a:ext cx="6309360" cy="4246945"/>
          </a:xfrm>
          <a:prstGeom prst="rect">
            <a:avLst/>
          </a:prstGeom>
          <a:ln w="9525">
            <a:solidFill>
              <a:srgbClr val="C4CAD4"/>
            </a:solidFill>
          </a:ln>
        </p:spPr>
      </p:pic>
      <p:sp>
        <p:nvSpPr>
          <p:cNvPr id="9" name="TextBox 8"/>
          <p:cNvSpPr txBox="1"/>
          <p:nvPr/>
        </p:nvSpPr>
        <p:spPr>
          <a:xfrm>
            <a:off x="228600" y="5316793"/>
            <a:ext cx="63093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13 — diagramme TP4 + interface Serializable (Restaurant, Plat), transient, static</a:t>
            </a:r>
          </a:p>
        </p:txBody>
      </p:sp>
      <p:pic>
        <p:nvPicPr>
          <p:cNvPr id="10" name="Picture 9" descr="q3_console.png"/>
          <p:cNvPicPr>
            <a:picLocks noChangeAspect="1"/>
          </p:cNvPicPr>
          <p:nvPr/>
        </p:nvPicPr>
        <p:blipFill>
          <a:blip r:embed="rId3"/>
          <a:stretch>
            <a:fillRect/>
          </a:stretch>
        </p:blipFill>
        <p:spPr>
          <a:xfrm>
            <a:off x="6675120" y="1097280"/>
            <a:ext cx="5257800" cy="3934438"/>
          </a:xfrm>
          <a:prstGeom prst="rect">
            <a:avLst/>
          </a:prstGeom>
          <a:ln w="9525">
            <a:solidFill>
              <a:srgbClr val="C4CAD4"/>
            </a:solidFill>
          </a:ln>
        </p:spPr>
      </p:pic>
      <p:sp>
        <p:nvSpPr>
          <p:cNvPr id="11" name="TextBox 10"/>
          <p:cNvSpPr txBox="1"/>
          <p:nvPr/>
        </p:nvSpPr>
        <p:spPr>
          <a:xfrm>
            <a:off x="6675120" y="5050006"/>
            <a:ext cx="525780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14 — avant, sérialisation, désérialisation : copie identique, transient remis à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Bilan, sources et IA</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TP5</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Exceptions · Fichier · Sérialisation</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10</a:t>
            </a:r>
          </a:p>
        </p:txBody>
      </p:sp>
      <p:sp>
        <p:nvSpPr>
          <p:cNvPr id="8" name="TextBox 7"/>
          <p:cNvSpPr txBox="1"/>
          <p:nvPr/>
        </p:nvSpPr>
        <p:spPr>
          <a:xfrm>
            <a:off x="365760" y="1097280"/>
            <a:ext cx="5760720" cy="5303520"/>
          </a:xfrm>
          <a:prstGeom prst="rect">
            <a:avLst/>
          </a:prstGeom>
          <a:noFill/>
        </p:spPr>
        <p:txBody>
          <a:bodyPr wrap="square" anchor="t" lIns="45720" rIns="45720" tIns="27432" bIns="27432">
            <a:spAutoFit/>
          </a:bodyPr>
          <a:lstStyle/>
          <a:p>
            <a:pPr>
              <a:spcAft>
                <a:spcPts val="500"/>
              </a:spcAft>
            </a:pPr>
            <a:r>
              <a:rPr sz="2200" b="1">
                <a:solidFill>
                  <a:srgbClr val="1F3A5F"/>
                </a:solidFill>
                <a:latin typeface="Calibri"/>
              </a:rPr>
              <a:t>Bilan</a:t>
            </a:r>
          </a:p>
          <a:p>
            <a:pPr>
              <a:spcAft>
                <a:spcPts val="500"/>
              </a:spcAft>
            </a:pPr>
            <a:r>
              <a:rPr sz="1550" b="0">
                <a:solidFill>
                  <a:srgbClr val="1B1F27"/>
                </a:solidFill>
                <a:latin typeface="Calibri"/>
              </a:rPr>
              <a:t>• Fait : 9 exceptions métier + hiérarchie, fichier texte (écrire, lire, afficher), sérialisation d'une liste de restaurants.</a:t>
            </a:r>
          </a:p>
          <a:p>
            <a:pPr>
              <a:spcAft>
                <a:spcPts val="500"/>
              </a:spcAft>
            </a:pPr>
            <a:r>
              <a:rPr sz="1550" b="0">
                <a:solidFill>
                  <a:srgbClr val="1B1F27"/>
                </a:solidFill>
                <a:latin typeface="Calibri"/>
              </a:rPr>
              <a:t>• Vérifié : TestsTP5 (tests du TP4 adaptés + nouveaux cas) : tous passent ; démonstration Main q1 / q2 / q3.</a:t>
            </a:r>
          </a:p>
          <a:p>
            <a:pPr>
              <a:spcAft>
                <a:spcPts val="500"/>
              </a:spcAft>
            </a:pPr>
            <a:r>
              <a:rPr sz="1550" b="0">
                <a:solidFill>
                  <a:srgbClr val="1B1F27"/>
                </a:solidFill>
                <a:latin typeface="Calibri"/>
              </a:rPr>
              <a:t>• Appris : checked / unchecked, throws et redéfinition, try-with-resources, chaînage de cause, transient, copie à la désérialisation.</a:t>
            </a:r>
          </a:p>
          <a:p>
            <a:pPr>
              <a:spcAft>
                <a:spcPts val="500"/>
              </a:spcAft>
            </a:pPr>
            <a:r>
              <a:rPr sz="1550" b="0">
                <a:solidFill>
                  <a:srgbClr val="1B1F27"/>
                </a:solidFill>
                <a:latin typeface="Calibri"/>
              </a:rPr>
              <a:t>• Difficultés : Panier et le throws hérité ; ne pas laisser un menu à moitié chargé.</a:t>
            </a:r>
          </a:p>
          <a:p>
            <a:pPr>
              <a:spcAft>
                <a:spcPts val="500"/>
              </a:spcAft>
            </a:pPr>
            <a:r>
              <a:rPr sz="1550" b="0">
                <a:solidFill>
                  <a:srgbClr val="1B1F27"/>
                </a:solidFill>
                <a:latin typeface="Calibri"/>
              </a:rPr>
              <a:t>• Limites : tableaux de 20 conservés (TP4) ; pas de « ; » dans une description ; pas de gestion de versions du .ser.</a:t>
            </a:r>
          </a:p>
          <a:p>
            <a:pPr>
              <a:spcAft>
                <a:spcPts val="500"/>
              </a:spcAft>
            </a:pPr>
            <a:r>
              <a:rPr sz="1550" b="0">
                <a:solidFill>
                  <a:srgbClr val="1B1F27"/>
                </a:solidFill>
                <a:latin typeface="Calibri"/>
              </a:rPr>
              <a:t>• Améliorations : listes dynamiques (ArrayList) à la place des tableaux ; format CSV/JSON standard.</a:t>
            </a:r>
          </a:p>
        </p:txBody>
      </p:sp>
      <p:sp>
        <p:nvSpPr>
          <p:cNvPr id="9" name="Rectangle 8"/>
          <p:cNvSpPr/>
          <p:nvPr/>
        </p:nvSpPr>
        <p:spPr>
          <a:xfrm>
            <a:off x="6355080" y="1097280"/>
            <a:ext cx="5486400" cy="5303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143000"/>
            <a:ext cx="5257800" cy="5212080"/>
          </a:xfrm>
          <a:prstGeom prst="rect">
            <a:avLst/>
          </a:prstGeom>
          <a:noFill/>
        </p:spPr>
        <p:txBody>
          <a:bodyPr wrap="square" anchor="t" lIns="45720" rIns="45720" tIns="27432" bIns="27432">
            <a:spAutoFit/>
          </a:bodyPr>
          <a:lstStyle/>
          <a:p>
            <a:pPr>
              <a:spcAft>
                <a:spcPts val="500"/>
              </a:spcAft>
            </a:pPr>
            <a:r>
              <a:rPr sz="2200" b="1">
                <a:solidFill>
                  <a:srgbClr val="1F3A5F"/>
                </a:solidFill>
                <a:latin typeface="Calibri"/>
              </a:rPr>
              <a:t>Sources</a:t>
            </a:r>
          </a:p>
          <a:p>
            <a:pPr>
              <a:spcAft>
                <a:spcPts val="500"/>
              </a:spcAft>
            </a:pPr>
            <a:r>
              <a:rPr sz="1450" b="0">
                <a:solidFill>
                  <a:srgbClr val="1B1F27"/>
                </a:solidFill>
                <a:latin typeface="Calibri"/>
              </a:rPr>
              <a:t>• J.-P. Segado, TP5 « Exceptions – Fichier – Sérialisation » et cours 5-6 (ECE).</a:t>
            </a:r>
          </a:p>
          <a:p>
            <a:pPr>
              <a:spcAft>
                <a:spcPts val="500"/>
              </a:spcAft>
            </a:pPr>
            <a:r>
              <a:rPr sz="1450" b="0">
                <a:solidFill>
                  <a:srgbClr val="1B1F27"/>
                </a:solidFill>
                <a:latin typeface="Calibri"/>
              </a:rPr>
              <a:t>• Documentation Java SE (Oracle) : Exceptions, Serializable, ObjectOutputStream.</a:t>
            </a:r>
          </a:p>
          <a:p>
            <a:pPr>
              <a:spcAft>
                <a:spcPts val="500"/>
              </a:spcAft>
            </a:pPr>
            <a:r>
              <a:rPr sz="1450" b="0">
                <a:solidFill>
                  <a:srgbClr val="1B1F27"/>
                </a:solidFill>
                <a:latin typeface="Calibri"/>
              </a:rPr>
              <a:t>• Notre TP3 et TP4 (Question 4 complet), diagrammes draw.io de l'équipe.</a:t>
            </a:r>
          </a:p>
          <a:p>
            <a:pPr>
              <a:spcAft>
                <a:spcPts val="500"/>
              </a:spcAft>
            </a:pPr>
            <a:r>
              <a:rPr sz="2200" b="1">
                <a:solidFill>
                  <a:srgbClr val="1F3A5F"/>
                </a:solidFill>
                <a:latin typeface="Calibri"/>
              </a:rPr>
              <a:t>IA utilisée</a:t>
            </a:r>
          </a:p>
          <a:p>
            <a:pPr>
              <a:spcAft>
                <a:spcPts val="500"/>
              </a:spcAft>
            </a:pPr>
            <a:r>
              <a:rPr sz="1450" b="0">
                <a:solidFill>
                  <a:srgbClr val="1B1F27"/>
                </a:solidFill>
                <a:latin typeface="Calibri"/>
              </a:rPr>
              <a:t>• Claude (Anthropic) : aide à l'écriture du code, des diagrammes et des slides. Code compilé et testé ; chaque choix est expliqué dans les notes de l'oral.</a:t>
            </a:r>
          </a:p>
          <a:p>
            <a:pPr>
              <a:spcAft>
                <a:spcPts val="500"/>
              </a:spcAft>
            </a:pPr>
            <a:r>
              <a:rPr sz="1550" b="1">
                <a:solidFill>
                  <a:srgbClr val="E85D04"/>
                </a:solidFill>
                <a:latin typeface="Calibri"/>
              </a:rPr>
              <a:t>Exemples de prompts :</a:t>
            </a:r>
          </a:p>
          <a:p>
            <a:pPr>
              <a:spcAft>
                <a:spcPts val="500"/>
              </a:spcAft>
            </a:pPr>
            <a:r>
              <a:rPr sz="1400" b="0">
                <a:solidFill>
                  <a:srgbClr val="555B66"/>
                </a:solidFill>
                <a:latin typeface="Calibri"/>
              </a:rPr>
              <a:t>• « fait moi le tp 5, dis-moi ce que tu as fait et prends les captures d'écran »</a:t>
            </a:r>
          </a:p>
          <a:p>
            <a:pPr>
              <a:spcAft>
                <a:spcPts val="500"/>
              </a:spcAft>
            </a:pPr>
            <a:r>
              <a:rPr sz="1400" b="0">
                <a:solidFill>
                  <a:srgbClr val="555B66"/>
                </a:solidFill>
                <a:latin typeface="Calibri"/>
              </a:rPr>
              <a:t>• « à partir de TP4 question complet (fichier zip), fais les changements s'il y en 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