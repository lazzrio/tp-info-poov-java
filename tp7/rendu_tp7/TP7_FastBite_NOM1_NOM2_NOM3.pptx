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Presentation (10 s). FastBite, notre application de livraison de repas des TP2 a TP6. Ce TP7 ne change rien pour l'utilisateur : on reorganise le code selon le pattern MVC, Modele-Vue-Controleur.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Sommaire (10 s). D'abord le principe et ce qui change entre le TP6 et le TP7, puis le code du modele, de la vue et du controleur, enfin les preuves par les tests et le bilan.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Q1 (50 s). Trois roles. Le modele : les classes metier des TP2 a TP5, les regles et les fichiers ; il ne connait ni Swing ni la vue. La vue : nos fenetres du TP6, elle affiche et ne modifie jamais le modele. Le controleur : il ecoute les clics, demande l'action au modele, attrape les exceptions. Quand le modele change, il previent la vue : c'est le pattern Observer.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Avant / apres (40 s). Au TP6 chaque fenetre faisait tout : dessiner, ecouter les clics, attraper les exceptions, appliquer les regles, ouvrir la fenetre suivante. Maintenant chaque responsabilite est dans le bon package. Les regles metier ont migre dans le modele, avec trois nouvelles exceptions, et la fenetre ne rappelle plus rafraichir a la main.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modele (50 s). Donnees est le point d'entree : il garde l'etat et offre les actions, par exemple appliquerPourboire qui verifie la regle. Apres chaque modification il appelle notifierEcouteurs. Il ne connait que l'interface EcouteurModele, pas les fenetres, et n'importe pas Swing.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vue (40 s). FenetreAccueil lit Donnees pour s'afficher, jamais pour le modifier. Le controleur lui est fourni par setControleur et s'abonne a ses boutons, y compris ceux recrees a chaque rafraichissement. Quand le modele la previent, modeleModifie la redessine.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controleur (50 s). C'est lui qui implemente ActionListener, plus la fenetre. getSource dit quel bouton a ete clique. Il appelle le modele, par exemple donnees.payer, puis demande a la vue d'afficher le resultat ; si le modele leve une exception, il appelle vue.erreur. A droite, le chemin complet pour payer : controleur puis modele.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Assemblage (40 s). main cree le modele et le ControleurApplication. demarrer cree la vue, l'abonne au modele et branche son controleur. Pour ouvrir le menu, le modele cree la commande, le controleur cree la fenetre. Plus aucune fenetre n'en ouvre une autre.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Preuves (50 s). Le programme de test lit nos fichiers source : aucun import de Swing ni de la vue dans le modele, aucune modification du modele depuis la vue, aucun composant construit dans le controleur. 273 verifications passent, y compris les scenarios de clics du TP6 : le comportement n'a pas change.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Bilan (30 s). Les regles sont maintenant testables sans fenetre et on pourrait changer d'interface sans toucher au modele. Limites : le modele garde des println des TP3 et le modele notifie sans preciser ce qui a change. Sources : cours de M. Segado, OpenClassrooms, Wikipedia. L'IA Claude a refactorise le code et ecrit les tests : nous devons savoir expliquer chaque partie.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 Id="rId4" Type="http://schemas.openxmlformats.org/officeDocument/2006/relationships/image" Target="../media/image6.png"/><Relationship Id="rId5"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 Id="rId4" Type="http://schemas.openxmlformats.org/officeDocument/2006/relationships/image" Target="../media/image7.png"/><Relationship Id="rId5"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 Id="rId4" Type="http://schemas.openxmlformats.org/officeDocument/2006/relationships/image" Target="../media/image9.png"/><Relationship Id="rId5"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ond_creme.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365760" y="45720"/>
            <a:ext cx="11430000" cy="1371600"/>
          </a:xfrm>
          <a:prstGeom prst="rect">
            <a:avLst/>
          </a:prstGeom>
          <a:noFill/>
        </p:spPr>
        <p:txBody>
          <a:bodyPr wrap="square" anchor="ctr" lIns="36576" rIns="36576" tIns="18288" bIns="18288">
            <a:spAutoFit/>
          </a:bodyPr>
          <a:lstStyle/>
          <a:p>
            <a:pPr algn="ctr">
              <a:lnSpc>
                <a:spcPct val="100000"/>
              </a:lnSpc>
              <a:spcAft>
                <a:spcPts val="600"/>
              </a:spcAft>
            </a:pPr>
            <a:r>
              <a:rPr sz="9600" b="0" spc="-60">
                <a:solidFill>
                  <a:srgbClr val="5A5B48"/>
                </a:solidFill>
                <a:latin typeface="Times New Roman"/>
              </a:rPr>
              <a:t>FASTBITE</a:t>
            </a:r>
          </a:p>
        </p:txBody>
      </p:sp>
      <p:sp>
        <p:nvSpPr>
          <p:cNvPr id="4" name="TextBox 3"/>
          <p:cNvSpPr txBox="1"/>
          <p:nvPr/>
        </p:nvSpPr>
        <p:spPr>
          <a:xfrm>
            <a:off x="822960" y="1371600"/>
            <a:ext cx="10515600" cy="914400"/>
          </a:xfrm>
          <a:prstGeom prst="rect">
            <a:avLst/>
          </a:prstGeom>
          <a:noFill/>
        </p:spPr>
        <p:txBody>
          <a:bodyPr wrap="square" anchor="t" lIns="36576" rIns="36576" tIns="18288" bIns="18288">
            <a:spAutoFit/>
          </a:bodyPr>
          <a:lstStyle/>
          <a:p>
            <a:pPr algn="ctr">
              <a:lnSpc>
                <a:spcPct val="100000"/>
              </a:lnSpc>
              <a:spcAft>
                <a:spcPts val="600"/>
              </a:spcAft>
            </a:pPr>
            <a:r>
              <a:rPr sz="3200" b="0" spc="-30">
                <a:solidFill>
                  <a:srgbClr val="5A5B48"/>
                </a:solidFill>
                <a:latin typeface="Times New Roman"/>
              </a:rPr>
              <a:t>TP7 — PATTERN MVC (MODÈLE-VUE-CONTRÔLEUR)</a:t>
            </a:r>
          </a:p>
        </p:txBody>
      </p:sp>
      <p:sp>
        <p:nvSpPr>
          <p:cNvPr id="5" name="Rounded Rectangle 4"/>
          <p:cNvSpPr/>
          <p:nvPr/>
        </p:nvSpPr>
        <p:spPr>
          <a:xfrm>
            <a:off x="2880360" y="2377440"/>
            <a:ext cx="6446520" cy="30632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q1_schema_mvc.png"/>
          <p:cNvPicPr>
            <a:picLocks noChangeAspect="1"/>
          </p:cNvPicPr>
          <p:nvPr/>
        </p:nvPicPr>
        <p:blipFill>
          <a:blip r:embed="rId4"/>
          <a:stretch>
            <a:fillRect/>
          </a:stretch>
        </p:blipFill>
        <p:spPr>
          <a:xfrm>
            <a:off x="3103245" y="2468880"/>
            <a:ext cx="6000749" cy="2880359"/>
          </a:xfrm>
          <a:prstGeom prst="rect">
            <a:avLst/>
          </a:prstGeom>
        </p:spPr>
      </p:pic>
      <p:sp>
        <p:nvSpPr>
          <p:cNvPr id="7" name="TextBox 6"/>
          <p:cNvSpPr txBox="1"/>
          <p:nvPr/>
        </p:nvSpPr>
        <p:spPr>
          <a:xfrm>
            <a:off x="137160" y="5486400"/>
            <a:ext cx="4480560" cy="1280160"/>
          </a:xfrm>
          <a:prstGeom prst="rect">
            <a:avLst/>
          </a:prstGeom>
          <a:noFill/>
        </p:spPr>
        <p:txBody>
          <a:bodyPr wrap="square" anchor="t" lIns="36576" rIns="36576" tIns="18288" bIns="18288">
            <a:spAutoFit/>
          </a:bodyPr>
          <a:lstStyle/>
          <a:p>
            <a:pPr algn="ctr">
              <a:lnSpc>
                <a:spcPct val="100000"/>
              </a:lnSpc>
              <a:spcAft>
                <a:spcPts val="0"/>
              </a:spcAft>
            </a:pPr>
            <a:r>
              <a:rPr sz="2200" b="0" spc="-30">
                <a:solidFill>
                  <a:srgbClr val="5A5B48"/>
                </a:solidFill>
                <a:latin typeface="Times New Roman"/>
              </a:rPr>
              <a:t>[PRÉNOM NOM 1]</a:t>
            </a:r>
          </a:p>
          <a:p>
            <a:pPr algn="ctr">
              <a:lnSpc>
                <a:spcPct val="100000"/>
              </a:lnSpc>
              <a:spcAft>
                <a:spcPts val="0"/>
              </a:spcAft>
            </a:pPr>
            <a:r>
              <a:rPr sz="2200" b="0" spc="-30">
                <a:solidFill>
                  <a:srgbClr val="5A5B48"/>
                </a:solidFill>
                <a:latin typeface="Times New Roman"/>
              </a:rPr>
              <a:t>[PRÉNOM NOM 2]</a:t>
            </a:r>
          </a:p>
          <a:p>
            <a:pPr algn="ctr">
              <a:lnSpc>
                <a:spcPct val="100000"/>
              </a:lnSpc>
              <a:spcAft>
                <a:spcPts val="0"/>
              </a:spcAft>
            </a:pPr>
            <a:r>
              <a:rPr sz="2200" b="0" spc="-30">
                <a:solidFill>
                  <a:srgbClr val="5A5B48"/>
                </a:solidFill>
                <a:latin typeface="Times New Roman"/>
              </a:rPr>
              <a:t>[PRÉNOM NOM 3]</a:t>
            </a:r>
          </a:p>
        </p:txBody>
      </p:sp>
      <p:sp>
        <p:nvSpPr>
          <p:cNvPr id="8" name="TextBox 7"/>
          <p:cNvSpPr txBox="1"/>
          <p:nvPr/>
        </p:nvSpPr>
        <p:spPr>
          <a:xfrm>
            <a:off x="4206240" y="5989320"/>
            <a:ext cx="3840480" cy="548640"/>
          </a:xfrm>
          <a:prstGeom prst="rect">
            <a:avLst/>
          </a:prstGeom>
          <a:noFill/>
        </p:spPr>
        <p:txBody>
          <a:bodyPr wrap="square" anchor="t" lIns="36576" rIns="36576" tIns="18288" bIns="18288">
            <a:spAutoFit/>
          </a:bodyPr>
          <a:lstStyle/>
          <a:p>
            <a:pPr algn="ctr">
              <a:lnSpc>
                <a:spcPct val="100000"/>
              </a:lnSpc>
              <a:spcAft>
                <a:spcPts val="600"/>
              </a:spcAft>
            </a:pPr>
            <a:r>
              <a:rPr sz="1800" b="0" spc="-30">
                <a:solidFill>
                  <a:srgbClr val="5A5B48"/>
                </a:solidFill>
                <a:latin typeface="Times New Roman"/>
              </a:rPr>
              <a:t>ECE PARIS · ING2 · J.-P. SEGADO</a:t>
            </a:r>
          </a:p>
        </p:txBody>
      </p:sp>
      <p:sp>
        <p:nvSpPr>
          <p:cNvPr id="9" name="TextBox 8"/>
          <p:cNvSpPr txBox="1"/>
          <p:nvPr/>
        </p:nvSpPr>
        <p:spPr>
          <a:xfrm>
            <a:off x="8138160" y="6126480"/>
            <a:ext cx="3840480" cy="548640"/>
          </a:xfrm>
          <a:prstGeom prst="rect">
            <a:avLst/>
          </a:prstGeom>
          <a:noFill/>
        </p:spPr>
        <p:txBody>
          <a:bodyPr wrap="square" anchor="t" lIns="36576" rIns="36576" tIns="18288" bIns="18288">
            <a:spAutoFit/>
          </a:bodyPr>
          <a:lstStyle/>
          <a:p>
            <a:pPr algn="r">
              <a:lnSpc>
                <a:spcPct val="100000"/>
              </a:lnSpc>
              <a:spcAft>
                <a:spcPts val="600"/>
              </a:spcAft>
            </a:pPr>
            <a:r>
              <a:rPr sz="3200" b="0" spc="-30">
                <a:solidFill>
                  <a:srgbClr val="5A5B48"/>
                </a:solidFill>
                <a:latin typeface="Times New Roman"/>
              </a:rPr>
              <a:t>POO-JAVA_2026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ond_creme.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365760" y="109728"/>
            <a:ext cx="11430000" cy="868680"/>
          </a:xfrm>
          <a:prstGeom prst="rect">
            <a:avLst/>
          </a:prstGeom>
          <a:noFill/>
        </p:spPr>
        <p:txBody>
          <a:bodyPr wrap="square" anchor="ctr" lIns="36576" rIns="36576" tIns="18288" bIns="18288">
            <a:spAutoFit/>
          </a:bodyPr>
          <a:lstStyle/>
          <a:p>
            <a:pPr algn="ctr">
              <a:lnSpc>
                <a:spcPct val="100000"/>
              </a:lnSpc>
              <a:spcAft>
                <a:spcPts val="600"/>
              </a:spcAft>
            </a:pPr>
            <a:r>
              <a:rPr sz="4600" b="0" spc="-30">
                <a:solidFill>
                  <a:srgbClr val="5A5B48"/>
                </a:solidFill>
                <a:latin typeface="Times New Roman"/>
              </a:rPr>
              <a:t>SOMMAIRE</a:t>
            </a:r>
          </a:p>
        </p:txBody>
      </p:sp>
      <p:sp>
        <p:nvSpPr>
          <p:cNvPr id="4" name="TextBox 3"/>
          <p:cNvSpPr txBox="1"/>
          <p:nvPr/>
        </p:nvSpPr>
        <p:spPr>
          <a:xfrm>
            <a:off x="10332720" y="6291072"/>
            <a:ext cx="1600200" cy="457200"/>
          </a:xfrm>
          <a:prstGeom prst="rect">
            <a:avLst/>
          </a:prstGeom>
          <a:noFill/>
        </p:spPr>
        <p:txBody>
          <a:bodyPr wrap="square" anchor="t" lIns="36576" rIns="36576" tIns="18288" bIns="18288">
            <a:spAutoFit/>
          </a:bodyPr>
          <a:lstStyle/>
          <a:p>
            <a:pPr algn="r">
              <a:lnSpc>
                <a:spcPct val="100000"/>
              </a:lnSpc>
              <a:spcAft>
                <a:spcPts val="600"/>
              </a:spcAft>
            </a:pPr>
            <a:r>
              <a:rPr sz="2400" b="0" spc="-30">
                <a:solidFill>
                  <a:srgbClr val="5A5B48"/>
                </a:solidFill>
                <a:latin typeface="Times New Roman"/>
              </a:rPr>
              <a:t>02/10</a:t>
            </a:r>
          </a:p>
        </p:txBody>
      </p:sp>
      <p:sp>
        <p:nvSpPr>
          <p:cNvPr id="5" name="TextBox 4"/>
          <p:cNvSpPr txBox="1"/>
          <p:nvPr/>
        </p:nvSpPr>
        <p:spPr>
          <a:xfrm>
            <a:off x="685800" y="1371600"/>
            <a:ext cx="6766560" cy="914400"/>
          </a:xfrm>
          <a:prstGeom prst="rect">
            <a:avLst/>
          </a:prstGeom>
          <a:noFill/>
        </p:spPr>
        <p:txBody>
          <a:bodyPr wrap="square" anchor="ctr" lIns="36576" rIns="36576" tIns="18288" bIns="18288">
            <a:spAutoFit/>
          </a:bodyPr>
          <a:lstStyle/>
          <a:p>
            <a:pPr algn="l">
              <a:lnSpc>
                <a:spcPct val="100000"/>
              </a:lnSpc>
              <a:spcAft>
                <a:spcPts val="600"/>
              </a:spcAft>
            </a:pPr>
            <a:r>
              <a:rPr sz="2700" b="0" spc="-30">
                <a:solidFill>
                  <a:srgbClr val="5A5B48"/>
                </a:solidFill>
                <a:latin typeface="Times New Roman"/>
              </a:rPr>
              <a:t>• Q1 — LE PATTERN MVC DANS FASTBITE</a:t>
            </a:r>
          </a:p>
        </p:txBody>
      </p:sp>
      <p:sp>
        <p:nvSpPr>
          <p:cNvPr id="6" name="TextBox 5"/>
          <p:cNvSpPr txBox="1"/>
          <p:nvPr/>
        </p:nvSpPr>
        <p:spPr>
          <a:xfrm>
            <a:off x="685800" y="2304288"/>
            <a:ext cx="6766560" cy="914400"/>
          </a:xfrm>
          <a:prstGeom prst="rect">
            <a:avLst/>
          </a:prstGeom>
          <a:noFill/>
        </p:spPr>
        <p:txBody>
          <a:bodyPr wrap="square" anchor="ctr" lIns="36576" rIns="36576" tIns="18288" bIns="18288">
            <a:spAutoFit/>
          </a:bodyPr>
          <a:lstStyle/>
          <a:p>
            <a:pPr algn="l">
              <a:lnSpc>
                <a:spcPct val="100000"/>
              </a:lnSpc>
              <a:spcAft>
                <a:spcPts val="600"/>
              </a:spcAft>
            </a:pPr>
            <a:r>
              <a:rPr sz="2700" b="0" spc="-30">
                <a:solidFill>
                  <a:srgbClr val="5A5B48"/>
                </a:solidFill>
                <a:latin typeface="Times New Roman"/>
              </a:rPr>
              <a:t>• AVANT / APRÈS : DU TP6 AU TP7</a:t>
            </a:r>
          </a:p>
        </p:txBody>
      </p:sp>
      <p:sp>
        <p:nvSpPr>
          <p:cNvPr id="7" name="TextBox 6"/>
          <p:cNvSpPr txBox="1"/>
          <p:nvPr/>
        </p:nvSpPr>
        <p:spPr>
          <a:xfrm>
            <a:off x="685800" y="3236976"/>
            <a:ext cx="6766560" cy="914400"/>
          </a:xfrm>
          <a:prstGeom prst="rect">
            <a:avLst/>
          </a:prstGeom>
          <a:noFill/>
        </p:spPr>
        <p:txBody>
          <a:bodyPr wrap="square" anchor="ctr" lIns="36576" rIns="36576" tIns="18288" bIns="18288">
            <a:spAutoFit/>
          </a:bodyPr>
          <a:lstStyle/>
          <a:p>
            <a:pPr algn="l">
              <a:lnSpc>
                <a:spcPct val="100000"/>
              </a:lnSpc>
              <a:spcAft>
                <a:spcPts val="600"/>
              </a:spcAft>
            </a:pPr>
            <a:r>
              <a:rPr sz="2700" b="0" spc="-30">
                <a:solidFill>
                  <a:srgbClr val="5A5B48"/>
                </a:solidFill>
                <a:latin typeface="Times New Roman"/>
              </a:rPr>
              <a:t>• MODÈLE, VUE, CONTRÔLEUR : LE CODE</a:t>
            </a:r>
          </a:p>
        </p:txBody>
      </p:sp>
      <p:sp>
        <p:nvSpPr>
          <p:cNvPr id="8" name="TextBox 7"/>
          <p:cNvSpPr txBox="1"/>
          <p:nvPr/>
        </p:nvSpPr>
        <p:spPr>
          <a:xfrm>
            <a:off x="685800" y="4169664"/>
            <a:ext cx="6766560" cy="914400"/>
          </a:xfrm>
          <a:prstGeom prst="rect">
            <a:avLst/>
          </a:prstGeom>
          <a:noFill/>
        </p:spPr>
        <p:txBody>
          <a:bodyPr wrap="square" anchor="ctr" lIns="36576" rIns="36576" tIns="18288" bIns="18288">
            <a:spAutoFit/>
          </a:bodyPr>
          <a:lstStyle/>
          <a:p>
            <a:pPr algn="l">
              <a:lnSpc>
                <a:spcPct val="100000"/>
              </a:lnSpc>
              <a:spcAft>
                <a:spcPts val="600"/>
              </a:spcAft>
            </a:pPr>
            <a:r>
              <a:rPr sz="2700" b="0" spc="-30">
                <a:solidFill>
                  <a:srgbClr val="5A5B48"/>
                </a:solidFill>
                <a:latin typeface="Times New Roman"/>
              </a:rPr>
              <a:t>• PREUVES : TESTS AUTOMATIQUES</a:t>
            </a:r>
          </a:p>
        </p:txBody>
      </p:sp>
      <p:sp>
        <p:nvSpPr>
          <p:cNvPr id="9" name="TextBox 8"/>
          <p:cNvSpPr txBox="1"/>
          <p:nvPr/>
        </p:nvSpPr>
        <p:spPr>
          <a:xfrm>
            <a:off x="685800" y="5102352"/>
            <a:ext cx="6766560" cy="914400"/>
          </a:xfrm>
          <a:prstGeom prst="rect">
            <a:avLst/>
          </a:prstGeom>
          <a:noFill/>
        </p:spPr>
        <p:txBody>
          <a:bodyPr wrap="square" anchor="ctr" lIns="36576" rIns="36576" tIns="18288" bIns="18288">
            <a:spAutoFit/>
          </a:bodyPr>
          <a:lstStyle/>
          <a:p>
            <a:pPr algn="l">
              <a:lnSpc>
                <a:spcPct val="100000"/>
              </a:lnSpc>
              <a:spcAft>
                <a:spcPts val="600"/>
              </a:spcAft>
            </a:pPr>
            <a:r>
              <a:rPr sz="2700" b="0" spc="-30">
                <a:solidFill>
                  <a:srgbClr val="5A5B48"/>
                </a:solidFill>
                <a:latin typeface="Times New Roman"/>
              </a:rPr>
              <a:t>• BILAN, SOURCES ET USAGE DE L'IA</a:t>
            </a:r>
          </a:p>
        </p:txBody>
      </p:sp>
      <p:pic>
        <p:nvPicPr>
          <p:cNvPr id="10" name="Picture 9" descr="q3_fenetre_accueil.png"/>
          <p:cNvPicPr>
            <a:picLocks noChangeAspect="1"/>
          </p:cNvPicPr>
          <p:nvPr/>
        </p:nvPicPr>
        <p:blipFill>
          <a:blip r:embed="rId4"/>
          <a:stretch>
            <a:fillRect/>
          </a:stretch>
        </p:blipFill>
        <p:spPr>
          <a:xfrm>
            <a:off x="7406640" y="2305019"/>
            <a:ext cx="4480560" cy="2979481"/>
          </a:xfrm>
          <a:prstGeom prst="roundRect">
            <a:avLst>
              <a:gd name="adj" fmla="val 3500"/>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ond_creme.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365760" y="109728"/>
            <a:ext cx="11430000" cy="868680"/>
          </a:xfrm>
          <a:prstGeom prst="rect">
            <a:avLst/>
          </a:prstGeom>
          <a:noFill/>
        </p:spPr>
        <p:txBody>
          <a:bodyPr wrap="square" anchor="ctr" lIns="36576" rIns="36576" tIns="18288" bIns="18288">
            <a:spAutoFit/>
          </a:bodyPr>
          <a:lstStyle/>
          <a:p>
            <a:pPr algn="ctr">
              <a:lnSpc>
                <a:spcPct val="100000"/>
              </a:lnSpc>
              <a:spcAft>
                <a:spcPts val="600"/>
              </a:spcAft>
            </a:pPr>
            <a:r>
              <a:rPr sz="3800" b="0" spc="-30">
                <a:solidFill>
                  <a:srgbClr val="5A5B48"/>
                </a:solidFill>
                <a:latin typeface="Times New Roman"/>
              </a:rPr>
              <a:t>Q1 — MVC : QUI FAIT QUOI ?</a:t>
            </a:r>
          </a:p>
        </p:txBody>
      </p:sp>
      <p:sp>
        <p:nvSpPr>
          <p:cNvPr id="4" name="TextBox 3"/>
          <p:cNvSpPr txBox="1"/>
          <p:nvPr/>
        </p:nvSpPr>
        <p:spPr>
          <a:xfrm>
            <a:off x="10332720" y="6291072"/>
            <a:ext cx="1600200" cy="457200"/>
          </a:xfrm>
          <a:prstGeom prst="rect">
            <a:avLst/>
          </a:prstGeom>
          <a:noFill/>
        </p:spPr>
        <p:txBody>
          <a:bodyPr wrap="square" anchor="t" lIns="36576" rIns="36576" tIns="18288" bIns="18288">
            <a:spAutoFit/>
          </a:bodyPr>
          <a:lstStyle/>
          <a:p>
            <a:pPr algn="r">
              <a:lnSpc>
                <a:spcPct val="100000"/>
              </a:lnSpc>
              <a:spcAft>
                <a:spcPts val="600"/>
              </a:spcAft>
            </a:pPr>
            <a:r>
              <a:rPr sz="2400" b="0" spc="-30">
                <a:solidFill>
                  <a:srgbClr val="5A5B48"/>
                </a:solidFill>
                <a:latin typeface="Times New Roman"/>
              </a:rPr>
              <a:t>03/10</a:t>
            </a:r>
          </a:p>
        </p:txBody>
      </p:sp>
      <p:pic>
        <p:nvPicPr>
          <p:cNvPr id="5" name="Picture 4" descr="q1_schema_mvc.png"/>
          <p:cNvPicPr>
            <a:picLocks noChangeAspect="1"/>
          </p:cNvPicPr>
          <p:nvPr/>
        </p:nvPicPr>
        <p:blipFill>
          <a:blip r:embed="rId4"/>
          <a:stretch>
            <a:fillRect/>
          </a:stretch>
        </p:blipFill>
        <p:spPr>
          <a:xfrm>
            <a:off x="1842135" y="1051560"/>
            <a:ext cx="8477250" cy="4069080"/>
          </a:xfrm>
          <a:prstGeom prst="rect">
            <a:avLst/>
          </a:prstGeom>
        </p:spPr>
      </p:pic>
      <p:sp>
        <p:nvSpPr>
          <p:cNvPr id="6" name="TextBox 5"/>
          <p:cNvSpPr txBox="1"/>
          <p:nvPr/>
        </p:nvSpPr>
        <p:spPr>
          <a:xfrm>
            <a:off x="548640" y="5166360"/>
            <a:ext cx="11064240" cy="1188720"/>
          </a:xfrm>
          <a:prstGeom prst="rect">
            <a:avLst/>
          </a:prstGeom>
          <a:noFill/>
        </p:spPr>
        <p:txBody>
          <a:bodyPr wrap="square" anchor="t" lIns="36576" rIns="36576" tIns="18288" bIns="18288">
            <a:spAutoFit/>
          </a:bodyPr>
          <a:lstStyle/>
          <a:p>
            <a:pPr algn="ctr">
              <a:lnSpc>
                <a:spcPct val="100000"/>
              </a:lnSpc>
              <a:spcAft>
                <a:spcPts val="300"/>
              </a:spcAft>
            </a:pPr>
            <a:r>
              <a:rPr sz="2000" b="0" spc="-30">
                <a:solidFill>
                  <a:srgbClr val="5A5B48"/>
                </a:solidFill>
                <a:latin typeface="Times New Roman"/>
              </a:rPr>
              <a:t>MODÈLE : DONNÉES, RÈGLES MÉTIER ET FICHIERS (TP2 À TP5) — NE CONNAÎT NI SWING NI LA VUE</a:t>
            </a:r>
          </a:p>
          <a:p>
            <a:pPr algn="ctr">
              <a:lnSpc>
                <a:spcPct val="100000"/>
              </a:lnSpc>
              <a:spcAft>
                <a:spcPts val="300"/>
              </a:spcAft>
            </a:pPr>
            <a:r>
              <a:rPr sz="2000" b="0" spc="-30">
                <a:solidFill>
                  <a:srgbClr val="5A5B48"/>
                </a:solidFill>
                <a:latin typeface="Times New Roman"/>
              </a:rPr>
              <a:t>VUE : FENÊTRES SWING (TP6), LECTURE SEULE DU MODÈLE — CONTRÔLEUR : CLICS, APPELS AU MODÈLE, EXCEPTIONS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ond_creme.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365760" y="109728"/>
            <a:ext cx="11430000" cy="868680"/>
          </a:xfrm>
          <a:prstGeom prst="rect">
            <a:avLst/>
          </a:prstGeom>
          <a:noFill/>
        </p:spPr>
        <p:txBody>
          <a:bodyPr wrap="square" anchor="ctr" lIns="36576" rIns="36576" tIns="18288" bIns="18288">
            <a:spAutoFit/>
          </a:bodyPr>
          <a:lstStyle/>
          <a:p>
            <a:pPr algn="ctr">
              <a:lnSpc>
                <a:spcPct val="100000"/>
              </a:lnSpc>
              <a:spcAft>
                <a:spcPts val="600"/>
              </a:spcAft>
            </a:pPr>
            <a:r>
              <a:rPr sz="3800" b="0" spc="-30">
                <a:solidFill>
                  <a:srgbClr val="5A5B48"/>
                </a:solidFill>
                <a:latin typeface="Times New Roman"/>
              </a:rPr>
              <a:t>AVANT / APRÈS : DU TP6 AU TP7</a:t>
            </a:r>
          </a:p>
        </p:txBody>
      </p:sp>
      <p:sp>
        <p:nvSpPr>
          <p:cNvPr id="4" name="TextBox 3"/>
          <p:cNvSpPr txBox="1"/>
          <p:nvPr/>
        </p:nvSpPr>
        <p:spPr>
          <a:xfrm>
            <a:off x="10332720" y="6291072"/>
            <a:ext cx="1600200" cy="457200"/>
          </a:xfrm>
          <a:prstGeom prst="rect">
            <a:avLst/>
          </a:prstGeom>
          <a:noFill/>
        </p:spPr>
        <p:txBody>
          <a:bodyPr wrap="square" anchor="t" lIns="36576" rIns="36576" tIns="18288" bIns="18288">
            <a:spAutoFit/>
          </a:bodyPr>
          <a:lstStyle/>
          <a:p>
            <a:pPr algn="r">
              <a:lnSpc>
                <a:spcPct val="100000"/>
              </a:lnSpc>
              <a:spcAft>
                <a:spcPts val="600"/>
              </a:spcAft>
            </a:pPr>
            <a:r>
              <a:rPr sz="2400" b="0" spc="-30">
                <a:solidFill>
                  <a:srgbClr val="5A5B48"/>
                </a:solidFill>
                <a:latin typeface="Times New Roman"/>
              </a:rPr>
              <a:t>04/10</a:t>
            </a:r>
          </a:p>
        </p:txBody>
      </p:sp>
      <p:pic>
        <p:nvPicPr>
          <p:cNvPr id="5" name="Picture 4" descr="q1_avant_apres.png"/>
          <p:cNvPicPr>
            <a:picLocks noChangeAspect="1"/>
          </p:cNvPicPr>
          <p:nvPr/>
        </p:nvPicPr>
        <p:blipFill>
          <a:blip r:embed="rId4"/>
          <a:stretch>
            <a:fillRect/>
          </a:stretch>
        </p:blipFill>
        <p:spPr>
          <a:xfrm>
            <a:off x="480059" y="1097280"/>
            <a:ext cx="11201400" cy="4480560"/>
          </a:xfrm>
          <a:prstGeom prst="rect">
            <a:avLst/>
          </a:prstGeom>
        </p:spPr>
      </p:pic>
      <p:sp>
        <p:nvSpPr>
          <p:cNvPr id="6" name="TextBox 5"/>
          <p:cNvSpPr txBox="1"/>
          <p:nvPr/>
        </p:nvSpPr>
        <p:spPr>
          <a:xfrm>
            <a:off x="548640" y="5623560"/>
            <a:ext cx="9509760" cy="640080"/>
          </a:xfrm>
          <a:prstGeom prst="rect">
            <a:avLst/>
          </a:prstGeom>
          <a:noFill/>
        </p:spPr>
        <p:txBody>
          <a:bodyPr wrap="square" anchor="t" lIns="36576" rIns="36576" tIns="18288" bIns="18288">
            <a:spAutoFit/>
          </a:bodyPr>
          <a:lstStyle/>
          <a:p>
            <a:pPr algn="ctr">
              <a:lnSpc>
                <a:spcPct val="100000"/>
              </a:lnSpc>
              <a:spcAft>
                <a:spcPts val="600"/>
              </a:spcAft>
            </a:pPr>
            <a:r>
              <a:rPr sz="2000" b="0" spc="-30">
                <a:solidFill>
                  <a:srgbClr val="5A5B48"/>
                </a:solidFill>
                <a:latin typeface="Times New Roman"/>
              </a:rPr>
              <a:t>MÊME INTERFACE, MÊME COMPORTEMENT : LE CODE EST SIMPLEMENT RANGÉ LÀ OÙ IL DOIT VIVRE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ond_creme.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365760" y="109728"/>
            <a:ext cx="11430000" cy="868680"/>
          </a:xfrm>
          <a:prstGeom prst="rect">
            <a:avLst/>
          </a:prstGeom>
          <a:noFill/>
        </p:spPr>
        <p:txBody>
          <a:bodyPr wrap="square" anchor="ctr" lIns="36576" rIns="36576" tIns="18288" bIns="18288">
            <a:spAutoFit/>
          </a:bodyPr>
          <a:lstStyle/>
          <a:p>
            <a:pPr algn="ctr">
              <a:lnSpc>
                <a:spcPct val="100000"/>
              </a:lnSpc>
              <a:spcAft>
                <a:spcPts val="600"/>
              </a:spcAft>
            </a:pPr>
            <a:r>
              <a:rPr sz="3800" b="0" spc="-30">
                <a:solidFill>
                  <a:srgbClr val="5A5B48"/>
                </a:solidFill>
                <a:latin typeface="Times New Roman"/>
              </a:rPr>
              <a:t>LE MODÈLE : ÉTAT, RÈGLES, OBSERVER</a:t>
            </a:r>
          </a:p>
        </p:txBody>
      </p:sp>
      <p:sp>
        <p:nvSpPr>
          <p:cNvPr id="4" name="TextBox 3"/>
          <p:cNvSpPr txBox="1"/>
          <p:nvPr/>
        </p:nvSpPr>
        <p:spPr>
          <a:xfrm>
            <a:off x="10332720" y="6291072"/>
            <a:ext cx="1600200" cy="457200"/>
          </a:xfrm>
          <a:prstGeom prst="rect">
            <a:avLst/>
          </a:prstGeom>
          <a:noFill/>
        </p:spPr>
        <p:txBody>
          <a:bodyPr wrap="square" anchor="t" lIns="36576" rIns="36576" tIns="18288" bIns="18288">
            <a:spAutoFit/>
          </a:bodyPr>
          <a:lstStyle/>
          <a:p>
            <a:pPr algn="r">
              <a:lnSpc>
                <a:spcPct val="100000"/>
              </a:lnSpc>
              <a:spcAft>
                <a:spcPts val="600"/>
              </a:spcAft>
            </a:pPr>
            <a:r>
              <a:rPr sz="2400" b="0" spc="-30">
                <a:solidFill>
                  <a:srgbClr val="5A5B48"/>
                </a:solidFill>
                <a:latin typeface="Times New Roman"/>
              </a:rPr>
              <a:t>05/10</a:t>
            </a:r>
          </a:p>
        </p:txBody>
      </p:sp>
      <p:pic>
        <p:nvPicPr>
          <p:cNvPr id="5" name="Picture 4" descr="m_code_modele.png"/>
          <p:cNvPicPr>
            <a:picLocks noChangeAspect="1"/>
          </p:cNvPicPr>
          <p:nvPr/>
        </p:nvPicPr>
        <p:blipFill>
          <a:blip r:embed="rId4"/>
          <a:stretch>
            <a:fillRect/>
          </a:stretch>
        </p:blipFill>
        <p:spPr>
          <a:xfrm>
            <a:off x="274320" y="1755058"/>
            <a:ext cx="6400800" cy="3850803"/>
          </a:xfrm>
          <a:prstGeom prst="roundRect">
            <a:avLst>
              <a:gd name="adj" fmla="val 3500"/>
            </a:avLst>
          </a:prstGeom>
        </p:spPr>
      </p:pic>
      <p:sp>
        <p:nvSpPr>
          <p:cNvPr id="6" name="TextBox 5"/>
          <p:cNvSpPr txBox="1"/>
          <p:nvPr/>
        </p:nvSpPr>
        <p:spPr>
          <a:xfrm>
            <a:off x="6903720" y="1188720"/>
            <a:ext cx="5029200" cy="5029200"/>
          </a:xfrm>
          <a:prstGeom prst="rect">
            <a:avLst/>
          </a:prstGeom>
          <a:noFill/>
        </p:spPr>
        <p:txBody>
          <a:bodyPr wrap="square" anchor="t" lIns="36576" rIns="36576" tIns="18288" bIns="18288">
            <a:spAutoFit/>
          </a:bodyPr>
          <a:lstStyle/>
          <a:p>
            <a:pPr algn="l">
              <a:lnSpc>
                <a:spcPct val="100000"/>
              </a:lnSpc>
              <a:spcAft>
                <a:spcPts val="600"/>
              </a:spcAft>
            </a:pPr>
            <a:r>
              <a:rPr sz="1450" b="0" spc="0">
                <a:solidFill>
                  <a:srgbClr val="5A5B48"/>
                </a:solidFill>
                <a:latin typeface="Times New Roman"/>
              </a:rPr>
              <a:t>1. </a:t>
            </a:r>
            <a:r>
              <a:rPr sz="1450" b="0" spc="0">
                <a:solidFill>
                  <a:srgbClr val="5A5B48"/>
                </a:solidFill>
                <a:latin typeface="Times New Roman"/>
              </a:rPr>
              <a:t>Donnees</a:t>
            </a:r>
            <a:r>
              <a:rPr sz="1450" b="0" spc="0">
                <a:solidFill>
                  <a:srgbClr val="5A5B48"/>
                </a:solidFill>
                <a:latin typeface="Times New Roman"/>
              </a:rPr>
              <a:t> est le point d'entrée du modèle : état (restaurants, client, livreur) et actions métier.</a:t>
            </a:r>
          </a:p>
          <a:p>
            <a:pPr algn="l">
              <a:lnSpc>
                <a:spcPct val="100000"/>
              </a:lnSpc>
              <a:spcAft>
                <a:spcPts val="600"/>
              </a:spcAft>
            </a:pPr>
            <a:r>
              <a:rPr sz="1450" b="0" spc="0">
                <a:solidFill>
                  <a:srgbClr val="5A5B48"/>
                </a:solidFill>
                <a:latin typeface="Times New Roman"/>
              </a:rPr>
              <a:t>2. </a:t>
            </a:r>
            <a:r>
              <a:rPr sz="1450" b="0" spc="0">
                <a:solidFill>
                  <a:srgbClr val="5A5B48"/>
                </a:solidFill>
                <a:latin typeface="Times New Roman"/>
              </a:rPr>
              <a:t>EcouteurModele</a:t>
            </a:r>
            <a:r>
              <a:rPr sz="1450" b="0" spc="0">
                <a:solidFill>
                  <a:srgbClr val="5A5B48"/>
                </a:solidFill>
                <a:latin typeface="Times New Roman"/>
              </a:rPr>
              <a:t> est la seule chose que le modèle connaît des vues : il ne les importe pas.</a:t>
            </a:r>
          </a:p>
          <a:p>
            <a:pPr algn="l">
              <a:lnSpc>
                <a:spcPct val="100000"/>
              </a:lnSpc>
              <a:spcAft>
                <a:spcPts val="600"/>
              </a:spcAft>
            </a:pPr>
            <a:r>
              <a:rPr sz="1450" b="0" spc="0">
                <a:solidFill>
                  <a:srgbClr val="5A5B48"/>
                </a:solidFill>
                <a:latin typeface="Times New Roman"/>
              </a:rPr>
              <a:t>3. </a:t>
            </a:r>
            <a:r>
              <a:rPr sz="1450" b="0" spc="0">
                <a:solidFill>
                  <a:srgbClr val="5A5B48"/>
                </a:solidFill>
                <a:latin typeface="Times New Roman"/>
              </a:rPr>
              <a:t>notifierEcouteurs()</a:t>
            </a:r>
            <a:r>
              <a:rPr sz="1450" b="0" spc="0">
                <a:solidFill>
                  <a:srgbClr val="5A5B48"/>
                </a:solidFill>
                <a:latin typeface="Times New Roman"/>
              </a:rPr>
              <a:t> : après chaque modification, toutes les vues abonnées sont prévenues.</a:t>
            </a:r>
          </a:p>
          <a:p>
            <a:pPr algn="l">
              <a:lnSpc>
                <a:spcPct val="100000"/>
              </a:lnSpc>
              <a:spcAft>
                <a:spcPts val="600"/>
              </a:spcAft>
            </a:pPr>
            <a:r>
              <a:rPr sz="1450" b="0" spc="0">
                <a:solidFill>
                  <a:srgbClr val="5A5B48"/>
                </a:solidFill>
                <a:latin typeface="Times New Roman"/>
              </a:rPr>
              <a:t>4. La règle « pas de pourboire négatif ni sur une commande payée » est ici, levée en exception (elle était dans la fenêtre au TP6).</a:t>
            </a:r>
          </a:p>
          <a:p>
            <a:pPr algn="l">
              <a:lnSpc>
                <a:spcPct val="100000"/>
              </a:lnSpc>
              <a:spcAft>
                <a:spcPts val="600"/>
              </a:spcAft>
            </a:pPr>
            <a:r>
              <a:rPr sz="1450" b="0" spc="0">
                <a:solidFill>
                  <a:srgbClr val="5A5B48"/>
                </a:solidFill>
                <a:latin typeface="Times New Roman"/>
              </a:rPr>
              <a:t>5. Aucun import de </a:t>
            </a:r>
            <a:r>
              <a:rPr sz="1450" b="0" spc="0">
                <a:solidFill>
                  <a:srgbClr val="5A5B48"/>
                </a:solidFill>
                <a:latin typeface="Times New Roman"/>
              </a:rPr>
              <a:t>javax.swing</a:t>
            </a:r>
            <a:r>
              <a:rPr sz="1450" b="0" spc="0">
                <a:solidFill>
                  <a:srgbClr val="5A5B48"/>
                </a:solidFill>
                <a:latin typeface="Times New Roman"/>
              </a:rPr>
              <a:t> dans le package </a:t>
            </a:r>
            <a:r>
              <a:rPr sz="1450" b="0" spc="0">
                <a:solidFill>
                  <a:srgbClr val="5A5B48"/>
                </a:solidFill>
                <a:latin typeface="Times New Roman"/>
              </a:rPr>
              <a:t>modele</a:t>
            </a:r>
            <a:r>
              <a:rPr sz="1450" b="0" spc="0">
                <a:solidFill>
                  <a:srgbClr val="5A5B48"/>
                </a:solidFill>
                <a:latin typeface="Times New Roman"/>
              </a:rPr>
              <a: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ond_creme.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365760" y="109728"/>
            <a:ext cx="11430000" cy="868680"/>
          </a:xfrm>
          <a:prstGeom prst="rect">
            <a:avLst/>
          </a:prstGeom>
          <a:noFill/>
        </p:spPr>
        <p:txBody>
          <a:bodyPr wrap="square" anchor="ctr" lIns="36576" rIns="36576" tIns="18288" bIns="18288">
            <a:spAutoFit/>
          </a:bodyPr>
          <a:lstStyle/>
          <a:p>
            <a:pPr algn="ctr">
              <a:lnSpc>
                <a:spcPct val="100000"/>
              </a:lnSpc>
              <a:spcAft>
                <a:spcPts val="600"/>
              </a:spcAft>
            </a:pPr>
            <a:r>
              <a:rPr sz="3800" b="0" spc="-30">
                <a:solidFill>
                  <a:srgbClr val="5A5B48"/>
                </a:solidFill>
                <a:latin typeface="Times New Roman"/>
              </a:rPr>
              <a:t>LA VUE : ELLE AFFICHE, C'EST TOUT</a:t>
            </a:r>
          </a:p>
        </p:txBody>
      </p:sp>
      <p:sp>
        <p:nvSpPr>
          <p:cNvPr id="4" name="TextBox 3"/>
          <p:cNvSpPr txBox="1"/>
          <p:nvPr/>
        </p:nvSpPr>
        <p:spPr>
          <a:xfrm>
            <a:off x="10332720" y="6291072"/>
            <a:ext cx="1600200" cy="457200"/>
          </a:xfrm>
          <a:prstGeom prst="rect">
            <a:avLst/>
          </a:prstGeom>
          <a:noFill/>
        </p:spPr>
        <p:txBody>
          <a:bodyPr wrap="square" anchor="t" lIns="36576" rIns="36576" tIns="18288" bIns="18288">
            <a:spAutoFit/>
          </a:bodyPr>
          <a:lstStyle/>
          <a:p>
            <a:pPr algn="r">
              <a:lnSpc>
                <a:spcPct val="100000"/>
              </a:lnSpc>
              <a:spcAft>
                <a:spcPts val="600"/>
              </a:spcAft>
            </a:pPr>
            <a:r>
              <a:rPr sz="2400" b="0" spc="-30">
                <a:solidFill>
                  <a:srgbClr val="5A5B48"/>
                </a:solidFill>
                <a:latin typeface="Times New Roman"/>
              </a:rPr>
              <a:t>06/10</a:t>
            </a:r>
          </a:p>
        </p:txBody>
      </p:sp>
      <p:pic>
        <p:nvPicPr>
          <p:cNvPr id="5" name="Picture 4" descr="v_code_vue.png"/>
          <p:cNvPicPr>
            <a:picLocks noChangeAspect="1"/>
          </p:cNvPicPr>
          <p:nvPr/>
        </p:nvPicPr>
        <p:blipFill>
          <a:blip r:embed="rId4"/>
          <a:stretch>
            <a:fillRect/>
          </a:stretch>
        </p:blipFill>
        <p:spPr>
          <a:xfrm>
            <a:off x="274320" y="1167874"/>
            <a:ext cx="6126480" cy="2876330"/>
          </a:xfrm>
          <a:prstGeom prst="roundRect">
            <a:avLst>
              <a:gd name="adj" fmla="val 3500"/>
            </a:avLst>
          </a:prstGeom>
        </p:spPr>
      </p:pic>
      <p:pic>
        <p:nvPicPr>
          <p:cNvPr id="6" name="Picture 5" descr="q3_fenetre_accueil.png"/>
          <p:cNvPicPr>
            <a:picLocks noChangeAspect="1"/>
          </p:cNvPicPr>
          <p:nvPr/>
        </p:nvPicPr>
        <p:blipFill>
          <a:blip r:embed="rId5"/>
          <a:stretch>
            <a:fillRect/>
          </a:stretch>
        </p:blipFill>
        <p:spPr>
          <a:xfrm>
            <a:off x="841818" y="4160520"/>
            <a:ext cx="3162682" cy="2103120"/>
          </a:xfrm>
          <a:prstGeom prst="roundRect">
            <a:avLst>
              <a:gd name="adj" fmla="val 3500"/>
            </a:avLst>
          </a:prstGeom>
        </p:spPr>
      </p:pic>
      <p:sp>
        <p:nvSpPr>
          <p:cNvPr id="7" name="TextBox 6"/>
          <p:cNvSpPr txBox="1"/>
          <p:nvPr/>
        </p:nvSpPr>
        <p:spPr>
          <a:xfrm>
            <a:off x="4389120" y="4343400"/>
            <a:ext cx="2103120" cy="1828800"/>
          </a:xfrm>
          <a:prstGeom prst="rect">
            <a:avLst/>
          </a:prstGeom>
          <a:noFill/>
        </p:spPr>
        <p:txBody>
          <a:bodyPr wrap="square" anchor="t" lIns="36576" rIns="36576" tIns="18288" bIns="18288">
            <a:spAutoFit/>
          </a:bodyPr>
          <a:lstStyle/>
          <a:p>
            <a:pPr algn="ctr">
              <a:lnSpc>
                <a:spcPct val="100000"/>
              </a:lnSpc>
              <a:spcAft>
                <a:spcPts val="200"/>
              </a:spcAft>
            </a:pPr>
            <a:r>
              <a:rPr sz="1600" b="0" spc="0">
                <a:solidFill>
                  <a:srgbClr val="5A5B48"/>
                </a:solidFill>
                <a:latin typeface="Times New Roman"/>
              </a:rPr>
              <a:t>Page 1 :</a:t>
            </a:r>
          </a:p>
          <a:p>
            <a:pPr algn="ctr">
              <a:lnSpc>
                <a:spcPct val="100000"/>
              </a:lnSpc>
              <a:spcAft>
                <a:spcPts val="200"/>
              </a:spcAft>
            </a:pPr>
            <a:r>
              <a:rPr sz="1600" b="0" spc="0">
                <a:solidFill>
                  <a:srgbClr val="5A5B48"/>
                </a:solidFill>
                <a:latin typeface="Times New Roman"/>
              </a:rPr>
              <a:t>même fenêtre qu'au TP6</a:t>
            </a:r>
          </a:p>
        </p:txBody>
      </p:sp>
      <p:sp>
        <p:nvSpPr>
          <p:cNvPr id="8" name="TextBox 7"/>
          <p:cNvSpPr txBox="1"/>
          <p:nvPr/>
        </p:nvSpPr>
        <p:spPr>
          <a:xfrm>
            <a:off x="6629400" y="1188720"/>
            <a:ext cx="5303520" cy="5029200"/>
          </a:xfrm>
          <a:prstGeom prst="rect">
            <a:avLst/>
          </a:prstGeom>
          <a:noFill/>
        </p:spPr>
        <p:txBody>
          <a:bodyPr wrap="square" anchor="t" lIns="36576" rIns="36576" tIns="18288" bIns="18288">
            <a:spAutoFit/>
          </a:bodyPr>
          <a:lstStyle/>
          <a:p>
            <a:pPr algn="l">
              <a:lnSpc>
                <a:spcPct val="100000"/>
              </a:lnSpc>
              <a:spcAft>
                <a:spcPts val="600"/>
              </a:spcAft>
            </a:pPr>
            <a:r>
              <a:rPr sz="1450" b="0" spc="0">
                <a:solidFill>
                  <a:srgbClr val="5A5B48"/>
                </a:solidFill>
                <a:latin typeface="Times New Roman"/>
              </a:rPr>
              <a:t>1. </a:t>
            </a:r>
            <a:r>
              <a:rPr sz="1450" b="0" spc="0">
                <a:solidFill>
                  <a:srgbClr val="5A5B48"/>
                </a:solidFill>
                <a:latin typeface="Times New Roman"/>
              </a:rPr>
              <a:t>FenetreAccueil</a:t>
            </a:r>
            <a:r>
              <a:rPr sz="1450" b="0" spc="0">
                <a:solidFill>
                  <a:srgbClr val="5A5B48"/>
                </a:solidFill>
                <a:latin typeface="Times New Roman"/>
              </a:rPr>
              <a:t> implémente </a:t>
            </a:r>
            <a:r>
              <a:rPr sz="1450" b="0" spc="0">
                <a:solidFill>
                  <a:srgbClr val="5A5B48"/>
                </a:solidFill>
                <a:latin typeface="Times New Roman"/>
              </a:rPr>
              <a:t>EcouteurModele</a:t>
            </a:r>
            <a:r>
              <a:rPr sz="1450" b="0" spc="0">
                <a:solidFill>
                  <a:srgbClr val="5A5B48"/>
                </a:solidFill>
                <a:latin typeface="Times New Roman"/>
              </a:rPr>
              <a:t> : le modèle la prévient, elle se redessine (</a:t>
            </a:r>
            <a:r>
              <a:rPr sz="1450" b="0" spc="0">
                <a:solidFill>
                  <a:srgbClr val="5A5B48"/>
                </a:solidFill>
                <a:latin typeface="Times New Roman"/>
              </a:rPr>
              <a:t>modeleModifie</a:t>
            </a:r>
            <a:r>
              <a:rPr sz="1450" b="0" spc="0">
                <a:solidFill>
                  <a:srgbClr val="5A5B48"/>
                </a:solidFill>
                <a:latin typeface="Times New Roman"/>
              </a:rPr>
              <a:t>).</a:t>
            </a:r>
          </a:p>
          <a:p>
            <a:pPr algn="l">
              <a:lnSpc>
                <a:spcPct val="100000"/>
              </a:lnSpc>
              <a:spcAft>
                <a:spcPts val="600"/>
              </a:spcAft>
            </a:pPr>
            <a:r>
              <a:rPr sz="1450" b="0" spc="0">
                <a:solidFill>
                  <a:srgbClr val="5A5B48"/>
                </a:solidFill>
                <a:latin typeface="Times New Roman"/>
              </a:rPr>
              <a:t>2. Elle lit </a:t>
            </a:r>
            <a:r>
              <a:rPr sz="1450" b="0" spc="0">
                <a:solidFill>
                  <a:srgbClr val="5A5B48"/>
                </a:solidFill>
                <a:latin typeface="Times New Roman"/>
              </a:rPr>
              <a:t>Donnees</a:t>
            </a:r>
            <a:r>
              <a:rPr sz="1450" b="0" spc="0">
                <a:solidFill>
                  <a:srgbClr val="5A5B48"/>
                </a:solidFill>
                <a:latin typeface="Times New Roman"/>
              </a:rPr>
              <a:t> pour s'afficher mais ne le modifie jamais.</a:t>
            </a:r>
          </a:p>
          <a:p>
            <a:pPr algn="l">
              <a:lnSpc>
                <a:spcPct val="100000"/>
              </a:lnSpc>
              <a:spcAft>
                <a:spcPts val="600"/>
              </a:spcAft>
            </a:pPr>
            <a:r>
              <a:rPr sz="1450" b="0" spc="0">
                <a:solidFill>
                  <a:srgbClr val="5A5B48"/>
                </a:solidFill>
                <a:latin typeface="Times New Roman"/>
              </a:rPr>
              <a:t>3. </a:t>
            </a:r>
            <a:r>
              <a:rPr sz="1450" b="0" spc="0">
                <a:solidFill>
                  <a:srgbClr val="5A5B48"/>
                </a:solidFill>
                <a:latin typeface="Times New Roman"/>
              </a:rPr>
              <a:t>setControleur(...)</a:t>
            </a:r>
            <a:r>
              <a:rPr sz="1450" b="0" spc="0">
                <a:solidFill>
                  <a:srgbClr val="5A5B48"/>
                </a:solidFill>
                <a:latin typeface="Times New Roman"/>
              </a:rPr>
              <a:t> : le contrôleur lui est fourni et se branche sur ses boutons, y compris ceux recréés à chaque rafraîchissement.</a:t>
            </a:r>
          </a:p>
          <a:p>
            <a:pPr algn="l">
              <a:lnSpc>
                <a:spcPct val="100000"/>
              </a:lnSpc>
              <a:spcAft>
                <a:spcPts val="600"/>
              </a:spcAft>
            </a:pPr>
            <a:r>
              <a:rPr sz="1450" b="0" spc="0">
                <a:solidFill>
                  <a:srgbClr val="5A5B48"/>
                </a:solidFill>
                <a:latin typeface="Times New Roman"/>
              </a:rPr>
              <a:t>4. Plus de </a:t>
            </a:r>
            <a:r>
              <a:rPr sz="1450" b="0" spc="0">
                <a:solidFill>
                  <a:srgbClr val="5A5B48"/>
                </a:solidFill>
                <a:latin typeface="Times New Roman"/>
              </a:rPr>
              <a:t>implements ActionListener</a:t>
            </a:r>
            <a:r>
              <a:rPr sz="1450" b="0" spc="0">
                <a:solidFill>
                  <a:srgbClr val="5A5B48"/>
                </a:solidFill>
                <a:latin typeface="Times New Roman"/>
              </a:rPr>
              <a:t>, plus de </a:t>
            </a:r>
            <a:r>
              <a:rPr sz="1450" b="0" spc="0">
                <a:solidFill>
                  <a:srgbClr val="5A5B48"/>
                </a:solidFill>
                <a:latin typeface="Times New Roman"/>
              </a:rPr>
              <a:t>try / catch</a:t>
            </a:r>
            <a:r>
              <a:rPr sz="1450" b="0" spc="0">
                <a:solidFill>
                  <a:srgbClr val="5A5B48"/>
                </a:solidFill>
                <a:latin typeface="Times New Roman"/>
              </a:rPr>
              <a:t> métier, plus d'ouverture d'autres fenêtres : elle expose seulement ses boutons et </a:t>
            </a:r>
            <a:r>
              <a:rPr sz="1450" b="0" spc="0">
                <a:solidFill>
                  <a:srgbClr val="5A5B48"/>
                </a:solidFill>
                <a:latin typeface="Times New Roman"/>
              </a:rPr>
              <a:t>erreur(...)</a:t>
            </a:r>
            <a:r>
              <a:rPr sz="1450" b="0" spc="0">
                <a:solidFill>
                  <a:srgbClr val="5A5B48"/>
                </a:solidFill>
                <a:latin typeface="Times New Roman"/>
              </a:rPr>
              <a: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ond_creme.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365760" y="109728"/>
            <a:ext cx="11430000" cy="868680"/>
          </a:xfrm>
          <a:prstGeom prst="rect">
            <a:avLst/>
          </a:prstGeom>
          <a:noFill/>
        </p:spPr>
        <p:txBody>
          <a:bodyPr wrap="square" anchor="ctr" lIns="36576" rIns="36576" tIns="18288" bIns="18288">
            <a:spAutoFit/>
          </a:bodyPr>
          <a:lstStyle/>
          <a:p>
            <a:pPr algn="ctr">
              <a:lnSpc>
                <a:spcPct val="100000"/>
              </a:lnSpc>
              <a:spcAft>
                <a:spcPts val="600"/>
              </a:spcAft>
            </a:pPr>
            <a:r>
              <a:rPr sz="3800" b="0" spc="-30">
                <a:solidFill>
                  <a:srgbClr val="5A5B48"/>
                </a:solidFill>
                <a:latin typeface="Times New Roman"/>
              </a:rPr>
              <a:t>LE CONTRÔLEUR : CLICS, MODÈLE, ERREURS</a:t>
            </a:r>
          </a:p>
        </p:txBody>
      </p:sp>
      <p:sp>
        <p:nvSpPr>
          <p:cNvPr id="4" name="TextBox 3"/>
          <p:cNvSpPr txBox="1"/>
          <p:nvPr/>
        </p:nvSpPr>
        <p:spPr>
          <a:xfrm>
            <a:off x="10332720" y="6291072"/>
            <a:ext cx="1600200" cy="457200"/>
          </a:xfrm>
          <a:prstGeom prst="rect">
            <a:avLst/>
          </a:prstGeom>
          <a:noFill/>
        </p:spPr>
        <p:txBody>
          <a:bodyPr wrap="square" anchor="t" lIns="36576" rIns="36576" tIns="18288" bIns="18288">
            <a:spAutoFit/>
          </a:bodyPr>
          <a:lstStyle/>
          <a:p>
            <a:pPr algn="r">
              <a:lnSpc>
                <a:spcPct val="100000"/>
              </a:lnSpc>
              <a:spcAft>
                <a:spcPts val="600"/>
              </a:spcAft>
            </a:pPr>
            <a:r>
              <a:rPr sz="2400" b="0" spc="-30">
                <a:solidFill>
                  <a:srgbClr val="5A5B48"/>
                </a:solidFill>
                <a:latin typeface="Times New Roman"/>
              </a:rPr>
              <a:t>07/10</a:t>
            </a:r>
          </a:p>
        </p:txBody>
      </p:sp>
      <p:pic>
        <p:nvPicPr>
          <p:cNvPr id="5" name="Picture 4" descr="c_code_controleur.png"/>
          <p:cNvPicPr>
            <a:picLocks noChangeAspect="1"/>
          </p:cNvPicPr>
          <p:nvPr/>
        </p:nvPicPr>
        <p:blipFill>
          <a:blip r:embed="rId4"/>
          <a:stretch>
            <a:fillRect/>
          </a:stretch>
        </p:blipFill>
        <p:spPr>
          <a:xfrm>
            <a:off x="274320" y="1783227"/>
            <a:ext cx="6126480" cy="3794465"/>
          </a:xfrm>
          <a:prstGeom prst="roundRect">
            <a:avLst>
              <a:gd name="adj" fmla="val 3500"/>
            </a:avLst>
          </a:prstGeom>
        </p:spPr>
      </p:pic>
      <p:pic>
        <p:nvPicPr>
          <p:cNvPr id="6" name="Picture 5" descr="c_code_commande.png"/>
          <p:cNvPicPr>
            <a:picLocks noChangeAspect="1"/>
          </p:cNvPicPr>
          <p:nvPr/>
        </p:nvPicPr>
        <p:blipFill>
          <a:blip r:embed="rId5"/>
          <a:stretch>
            <a:fillRect/>
          </a:stretch>
        </p:blipFill>
        <p:spPr>
          <a:xfrm>
            <a:off x="6583680" y="1320998"/>
            <a:ext cx="5349240" cy="2067163"/>
          </a:xfrm>
          <a:prstGeom prst="roundRect">
            <a:avLst>
              <a:gd name="adj" fmla="val 3500"/>
            </a:avLst>
          </a:prstGeom>
        </p:spPr>
      </p:pic>
      <p:sp>
        <p:nvSpPr>
          <p:cNvPr id="7" name="TextBox 6"/>
          <p:cNvSpPr txBox="1"/>
          <p:nvPr/>
        </p:nvSpPr>
        <p:spPr>
          <a:xfrm>
            <a:off x="6583680" y="3611880"/>
            <a:ext cx="5349240" cy="2651760"/>
          </a:xfrm>
          <a:prstGeom prst="rect">
            <a:avLst/>
          </a:prstGeom>
          <a:noFill/>
        </p:spPr>
        <p:txBody>
          <a:bodyPr wrap="square" anchor="t" lIns="36576" rIns="36576" tIns="18288" bIns="18288">
            <a:spAutoFit/>
          </a:bodyPr>
          <a:lstStyle/>
          <a:p>
            <a:pPr algn="l">
              <a:lnSpc>
                <a:spcPct val="100000"/>
              </a:lnSpc>
              <a:spcAft>
                <a:spcPts val="500"/>
              </a:spcAft>
            </a:pPr>
            <a:r>
              <a:rPr sz="1400" b="0" spc="0">
                <a:solidFill>
                  <a:srgbClr val="5A5B48"/>
                </a:solidFill>
                <a:latin typeface="Times New Roman"/>
              </a:rPr>
              <a:t>1. C'est le contrôleur qui implémente </a:t>
            </a:r>
            <a:r>
              <a:rPr sz="1400" b="0" spc="0">
                <a:solidFill>
                  <a:srgbClr val="5A5B48"/>
                </a:solidFill>
                <a:latin typeface="Times New Roman"/>
              </a:rPr>
              <a:t>ActionListener</a:t>
            </a:r>
            <a:r>
              <a:rPr sz="1400" b="0" spc="0">
                <a:solidFill>
                  <a:srgbClr val="5A5B48"/>
                </a:solidFill>
                <a:latin typeface="Times New Roman"/>
              </a:rPr>
              <a:t> (plus la fenêtre) ; </a:t>
            </a:r>
            <a:r>
              <a:rPr sz="1400" b="0" spc="0">
                <a:solidFill>
                  <a:srgbClr val="5A5B48"/>
                </a:solidFill>
                <a:latin typeface="Times New Roman"/>
              </a:rPr>
              <a:t>getSource()</a:t>
            </a:r>
            <a:r>
              <a:rPr sz="1400" b="0" spc="0">
                <a:solidFill>
                  <a:srgbClr val="5A5B48"/>
                </a:solidFill>
                <a:latin typeface="Times New Roman"/>
              </a:rPr>
              <a:t> dit quel bouton.</a:t>
            </a:r>
          </a:p>
          <a:p>
            <a:pPr algn="l">
              <a:lnSpc>
                <a:spcPct val="100000"/>
              </a:lnSpc>
              <a:spcAft>
                <a:spcPts val="500"/>
              </a:spcAft>
            </a:pPr>
            <a:r>
              <a:rPr sz="1400" b="0" spc="0">
                <a:solidFill>
                  <a:srgbClr val="5A5B48"/>
                </a:solidFill>
                <a:latin typeface="Times New Roman"/>
              </a:rPr>
              <a:t>2. Il demande l'action au modèle (</a:t>
            </a:r>
            <a:r>
              <a:rPr sz="1400" b="0" spc="0">
                <a:solidFill>
                  <a:srgbClr val="5A5B48"/>
                </a:solidFill>
                <a:latin typeface="Times New Roman"/>
              </a:rPr>
              <a:t>donnees.ajouterPlat</a:t>
            </a:r>
            <a:r>
              <a:rPr sz="1400" b="0" spc="0">
                <a:solidFill>
                  <a:srgbClr val="5A5B48"/>
                </a:solidFill>
                <a:latin typeface="Times New Roman"/>
              </a:rPr>
              <a:t>, </a:t>
            </a:r>
            <a:r>
              <a:rPr sz="1400" b="0" spc="0">
                <a:solidFill>
                  <a:srgbClr val="5A5B48"/>
                </a:solidFill>
                <a:latin typeface="Times New Roman"/>
              </a:rPr>
              <a:t>donnees.payer</a:t>
            </a:r>
            <a:r>
              <a:rPr sz="1400" b="0" spc="0">
                <a:solidFill>
                  <a:srgbClr val="5A5B48"/>
                </a:solidFill>
                <a:latin typeface="Times New Roman"/>
              </a:rPr>
              <a:t>) puis </a:t>
            </a:r>
            <a:r>
              <a:rPr sz="1400" b="0" spc="0">
                <a:solidFill>
                  <a:srgbClr val="5A5B48"/>
                </a:solidFill>
                <a:latin typeface="Times New Roman"/>
              </a:rPr>
              <a:t>vue.setEtat(...)</a:t>
            </a:r>
            <a:r>
              <a:rPr sz="1400" b="0" spc="0">
                <a:solidFill>
                  <a:srgbClr val="5A5B48"/>
                </a:solidFill>
                <a:latin typeface="Times New Roman"/>
              </a:rPr>
              <a:t>.</a:t>
            </a:r>
          </a:p>
          <a:p>
            <a:pPr algn="l">
              <a:lnSpc>
                <a:spcPct val="100000"/>
              </a:lnSpc>
              <a:spcAft>
                <a:spcPts val="500"/>
              </a:spcAft>
            </a:pPr>
            <a:r>
              <a:rPr sz="1400" b="0" spc="0">
                <a:solidFill>
                  <a:srgbClr val="5A5B48"/>
                </a:solidFill>
                <a:latin typeface="Times New Roman"/>
              </a:rPr>
              <a:t>3. Si le modèle refuse, il attrape l'exception et appelle </a:t>
            </a:r>
            <a:r>
              <a:rPr sz="1400" b="0" spc="0">
                <a:solidFill>
                  <a:srgbClr val="5A5B48"/>
                </a:solidFill>
                <a:latin typeface="Times New Roman"/>
              </a:rPr>
              <a:t>vue.erreur(...)</a:t>
            </a:r>
            <a:r>
              <a:rPr sz="1400" b="0" spc="0">
                <a:solidFill>
                  <a:srgbClr val="5A5B48"/>
                </a:solidFill>
                <a:latin typeface="Times New Roman"/>
              </a:rPr>
              <a:t>.</a:t>
            </a:r>
          </a:p>
          <a:p>
            <a:pPr algn="l">
              <a:lnSpc>
                <a:spcPct val="100000"/>
              </a:lnSpc>
              <a:spcAft>
                <a:spcPts val="500"/>
              </a:spcAft>
            </a:pPr>
            <a:r>
              <a:rPr sz="1400" b="0" spc="0">
                <a:solidFill>
                  <a:srgbClr val="5A5B48"/>
                </a:solidFill>
                <a:latin typeface="Times New Roman"/>
              </a:rPr>
              <a:t>4. </a:t>
            </a:r>
            <a:r>
              <a:rPr sz="1400" b="0" spc="0">
                <a:solidFill>
                  <a:srgbClr val="5A5B48"/>
                </a:solidFill>
                <a:latin typeface="Times New Roman"/>
              </a:rPr>
              <a:t>ControleurCommande</a:t>
            </a:r>
            <a:r>
              <a:rPr sz="1400" b="0" spc="0">
                <a:solidFill>
                  <a:srgbClr val="5A5B48"/>
                </a:solidFill>
                <a:latin typeface="Times New Roman"/>
              </a:rPr>
              <a:t> garde les classes anonymes du TP6.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ond_creme.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365760" y="109728"/>
            <a:ext cx="11430000" cy="868680"/>
          </a:xfrm>
          <a:prstGeom prst="rect">
            <a:avLst/>
          </a:prstGeom>
          <a:noFill/>
        </p:spPr>
        <p:txBody>
          <a:bodyPr wrap="square" anchor="ctr" lIns="36576" rIns="36576" tIns="18288" bIns="18288">
            <a:spAutoFit/>
          </a:bodyPr>
          <a:lstStyle/>
          <a:p>
            <a:pPr algn="ctr">
              <a:lnSpc>
                <a:spcPct val="100000"/>
              </a:lnSpc>
              <a:spcAft>
                <a:spcPts val="600"/>
              </a:spcAft>
            </a:pPr>
            <a:r>
              <a:rPr sz="3800" b="0" spc="-30">
                <a:solidFill>
                  <a:srgbClr val="5A5B48"/>
                </a:solidFill>
                <a:latin typeface="Times New Roman"/>
              </a:rPr>
              <a:t>L'ASSEMBLAGE ET LA NAVIGATION</a:t>
            </a:r>
          </a:p>
        </p:txBody>
      </p:sp>
      <p:sp>
        <p:nvSpPr>
          <p:cNvPr id="4" name="TextBox 3"/>
          <p:cNvSpPr txBox="1"/>
          <p:nvPr/>
        </p:nvSpPr>
        <p:spPr>
          <a:xfrm>
            <a:off x="10332720" y="6291072"/>
            <a:ext cx="1600200" cy="457200"/>
          </a:xfrm>
          <a:prstGeom prst="rect">
            <a:avLst/>
          </a:prstGeom>
          <a:noFill/>
        </p:spPr>
        <p:txBody>
          <a:bodyPr wrap="square" anchor="t" lIns="36576" rIns="36576" tIns="18288" bIns="18288">
            <a:spAutoFit/>
          </a:bodyPr>
          <a:lstStyle/>
          <a:p>
            <a:pPr algn="r">
              <a:lnSpc>
                <a:spcPct val="100000"/>
              </a:lnSpc>
              <a:spcAft>
                <a:spcPts val="600"/>
              </a:spcAft>
            </a:pPr>
            <a:r>
              <a:rPr sz="2400" b="0" spc="-30">
                <a:solidFill>
                  <a:srgbClr val="5A5B48"/>
                </a:solidFill>
                <a:latin typeface="Times New Roman"/>
              </a:rPr>
              <a:t>08/10</a:t>
            </a:r>
          </a:p>
        </p:txBody>
      </p:sp>
      <p:pic>
        <p:nvPicPr>
          <p:cNvPr id="5" name="Picture 4" descr="c_code_application.png"/>
          <p:cNvPicPr>
            <a:picLocks noChangeAspect="1"/>
          </p:cNvPicPr>
          <p:nvPr/>
        </p:nvPicPr>
        <p:blipFill>
          <a:blip r:embed="rId4"/>
          <a:stretch>
            <a:fillRect/>
          </a:stretch>
        </p:blipFill>
        <p:spPr>
          <a:xfrm>
            <a:off x="274320" y="1581912"/>
            <a:ext cx="6583679" cy="4197096"/>
          </a:xfrm>
          <a:prstGeom prst="roundRect">
            <a:avLst>
              <a:gd name="adj" fmla="val 3500"/>
            </a:avLst>
          </a:prstGeom>
        </p:spPr>
      </p:pic>
      <p:pic>
        <p:nvPicPr>
          <p:cNvPr id="6" name="Picture 5" descr="q3_fenetre_menu.png"/>
          <p:cNvPicPr>
            <a:picLocks noChangeAspect="1"/>
          </p:cNvPicPr>
          <p:nvPr/>
        </p:nvPicPr>
        <p:blipFill>
          <a:blip r:embed="rId5"/>
          <a:stretch>
            <a:fillRect/>
          </a:stretch>
        </p:blipFill>
        <p:spPr>
          <a:xfrm>
            <a:off x="7767876" y="1188720"/>
            <a:ext cx="3575206" cy="2377440"/>
          </a:xfrm>
          <a:prstGeom prst="roundRect">
            <a:avLst>
              <a:gd name="adj" fmla="val 3500"/>
            </a:avLst>
          </a:prstGeom>
        </p:spPr>
      </p:pic>
      <p:sp>
        <p:nvSpPr>
          <p:cNvPr id="7" name="TextBox 6"/>
          <p:cNvSpPr txBox="1"/>
          <p:nvPr/>
        </p:nvSpPr>
        <p:spPr>
          <a:xfrm>
            <a:off x="7086600" y="3703320"/>
            <a:ext cx="4892040" cy="2560320"/>
          </a:xfrm>
          <a:prstGeom prst="rect">
            <a:avLst/>
          </a:prstGeom>
          <a:noFill/>
        </p:spPr>
        <p:txBody>
          <a:bodyPr wrap="square" anchor="t" lIns="36576" rIns="36576" tIns="18288" bIns="18288">
            <a:spAutoFit/>
          </a:bodyPr>
          <a:lstStyle/>
          <a:p>
            <a:pPr algn="l">
              <a:lnSpc>
                <a:spcPct val="100000"/>
              </a:lnSpc>
              <a:spcAft>
                <a:spcPts val="500"/>
              </a:spcAft>
            </a:pPr>
            <a:r>
              <a:rPr sz="1450" b="0" spc="0">
                <a:solidFill>
                  <a:srgbClr val="5A5B48"/>
                </a:solidFill>
                <a:latin typeface="Times New Roman"/>
              </a:rPr>
              <a:t>1. </a:t>
            </a:r>
            <a:r>
              <a:rPr sz="1450" b="0" spc="0">
                <a:solidFill>
                  <a:srgbClr val="5A5B48"/>
                </a:solidFill>
                <a:latin typeface="Times New Roman"/>
              </a:rPr>
              <a:t>FastBiteGUI.main</a:t>
            </a:r>
            <a:r>
              <a:rPr sz="1450" b="0" spc="0">
                <a:solidFill>
                  <a:srgbClr val="5A5B48"/>
                </a:solidFill>
                <a:latin typeface="Times New Roman"/>
              </a:rPr>
              <a:t> crée le modèle puis le </a:t>
            </a:r>
            <a:r>
              <a:rPr sz="1450" b="0" spc="0">
                <a:solidFill>
                  <a:srgbClr val="5A5B48"/>
                </a:solidFill>
                <a:latin typeface="Times New Roman"/>
              </a:rPr>
              <a:t>ControleurApplication</a:t>
            </a:r>
            <a:r>
              <a:rPr sz="1450" b="0" spc="0">
                <a:solidFill>
                  <a:srgbClr val="5A5B48"/>
                </a:solidFill>
                <a:latin typeface="Times New Roman"/>
              </a:rPr>
              <a:t>.</a:t>
            </a:r>
          </a:p>
          <a:p>
            <a:pPr algn="l">
              <a:lnSpc>
                <a:spcPct val="100000"/>
              </a:lnSpc>
              <a:spcAft>
                <a:spcPts val="500"/>
              </a:spcAft>
            </a:pPr>
            <a:r>
              <a:rPr sz="1450" b="0" spc="0">
                <a:solidFill>
                  <a:srgbClr val="5A5B48"/>
                </a:solidFill>
                <a:latin typeface="Times New Roman"/>
              </a:rPr>
              <a:t>2. </a:t>
            </a:r>
            <a:r>
              <a:rPr sz="1450" b="0" spc="0">
                <a:solidFill>
                  <a:srgbClr val="5A5B48"/>
                </a:solidFill>
                <a:latin typeface="Times New Roman"/>
              </a:rPr>
              <a:t>demarrer()</a:t>
            </a:r>
            <a:r>
              <a:rPr sz="1450" b="0" spc="0">
                <a:solidFill>
                  <a:srgbClr val="5A5B48"/>
                </a:solidFill>
                <a:latin typeface="Times New Roman"/>
              </a:rPr>
              <a:t> crée la vue, l'abonne au modèle et branche son contrôleur.</a:t>
            </a:r>
          </a:p>
          <a:p>
            <a:pPr algn="l">
              <a:lnSpc>
                <a:spcPct val="100000"/>
              </a:lnSpc>
              <a:spcAft>
                <a:spcPts val="500"/>
              </a:spcAft>
            </a:pPr>
            <a:r>
              <a:rPr sz="1450" b="0" spc="0">
                <a:solidFill>
                  <a:srgbClr val="5A5B48"/>
                </a:solidFill>
                <a:latin typeface="Times New Roman"/>
              </a:rPr>
              <a:t>3. </a:t>
            </a:r>
            <a:r>
              <a:rPr sz="1450" b="0" spc="0">
                <a:solidFill>
                  <a:srgbClr val="5A5B48"/>
                </a:solidFill>
                <a:latin typeface="Times New Roman"/>
              </a:rPr>
              <a:t>ouvrirMenu()</a:t>
            </a:r>
            <a:r>
              <a:rPr sz="1450" b="0" spc="0">
                <a:solidFill>
                  <a:srgbClr val="5A5B48"/>
                </a:solidFill>
                <a:latin typeface="Times New Roman"/>
              </a:rPr>
              <a:t> : le modèle crée la commande, le contrôleur crée la fenêtre.</a:t>
            </a:r>
          </a:p>
          <a:p>
            <a:pPr algn="l">
              <a:lnSpc>
                <a:spcPct val="100000"/>
              </a:lnSpc>
              <a:spcAft>
                <a:spcPts val="500"/>
              </a:spcAft>
            </a:pPr>
            <a:r>
              <a:rPr sz="1450" b="0" spc="0">
                <a:solidFill>
                  <a:srgbClr val="5A5B48"/>
                </a:solidFill>
                <a:latin typeface="Times New Roman"/>
              </a:rPr>
              <a:t>4. Plus aucune fenêtre n'en ouvre une autre : toute la navigation est ici.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ond_creme.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365760" y="109728"/>
            <a:ext cx="11430000" cy="868680"/>
          </a:xfrm>
          <a:prstGeom prst="rect">
            <a:avLst/>
          </a:prstGeom>
          <a:noFill/>
        </p:spPr>
        <p:txBody>
          <a:bodyPr wrap="square" anchor="ctr" lIns="36576" rIns="36576" tIns="18288" bIns="18288">
            <a:spAutoFit/>
          </a:bodyPr>
          <a:lstStyle/>
          <a:p>
            <a:pPr algn="ctr">
              <a:lnSpc>
                <a:spcPct val="100000"/>
              </a:lnSpc>
              <a:spcAft>
                <a:spcPts val="600"/>
              </a:spcAft>
            </a:pPr>
            <a:r>
              <a:rPr sz="3800" b="0" spc="-30">
                <a:solidFill>
                  <a:srgbClr val="5A5B48"/>
                </a:solidFill>
                <a:latin typeface="Times New Roman"/>
              </a:rPr>
              <a:t>PREUVES : LE MVC EST RESPECTÉ</a:t>
            </a:r>
          </a:p>
        </p:txBody>
      </p:sp>
      <p:sp>
        <p:nvSpPr>
          <p:cNvPr id="4" name="TextBox 3"/>
          <p:cNvSpPr txBox="1"/>
          <p:nvPr/>
        </p:nvSpPr>
        <p:spPr>
          <a:xfrm>
            <a:off x="10332720" y="6291072"/>
            <a:ext cx="1600200" cy="457200"/>
          </a:xfrm>
          <a:prstGeom prst="rect">
            <a:avLst/>
          </a:prstGeom>
          <a:noFill/>
        </p:spPr>
        <p:txBody>
          <a:bodyPr wrap="square" anchor="t" lIns="36576" rIns="36576" tIns="18288" bIns="18288">
            <a:spAutoFit/>
          </a:bodyPr>
          <a:lstStyle/>
          <a:p>
            <a:pPr algn="r">
              <a:lnSpc>
                <a:spcPct val="100000"/>
              </a:lnSpc>
              <a:spcAft>
                <a:spcPts val="600"/>
              </a:spcAft>
            </a:pPr>
            <a:r>
              <a:rPr sz="2400" b="0" spc="-30">
                <a:solidFill>
                  <a:srgbClr val="5A5B48"/>
                </a:solidFill>
                <a:latin typeface="Times New Roman"/>
              </a:rPr>
              <a:t>09/10</a:t>
            </a:r>
          </a:p>
        </p:txBody>
      </p:sp>
      <p:pic>
        <p:nvPicPr>
          <p:cNvPr id="5" name="Picture 4" descr="q1_preuve_tests.png"/>
          <p:cNvPicPr>
            <a:picLocks noChangeAspect="1"/>
          </p:cNvPicPr>
          <p:nvPr/>
        </p:nvPicPr>
        <p:blipFill>
          <a:blip r:embed="rId4"/>
          <a:stretch>
            <a:fillRect/>
          </a:stretch>
        </p:blipFill>
        <p:spPr>
          <a:xfrm>
            <a:off x="457200" y="1270101"/>
            <a:ext cx="11247120" cy="3449116"/>
          </a:xfrm>
          <a:prstGeom prst="roundRect">
            <a:avLst>
              <a:gd name="adj" fmla="val 3500"/>
            </a:avLst>
          </a:prstGeom>
        </p:spPr>
      </p:pic>
      <p:sp>
        <p:nvSpPr>
          <p:cNvPr id="6" name="TextBox 5"/>
          <p:cNvSpPr txBox="1"/>
          <p:nvPr/>
        </p:nvSpPr>
        <p:spPr>
          <a:xfrm>
            <a:off x="548640" y="4983480"/>
            <a:ext cx="9692640" cy="1280160"/>
          </a:xfrm>
          <a:prstGeom prst="rect">
            <a:avLst/>
          </a:prstGeom>
          <a:noFill/>
        </p:spPr>
        <p:txBody>
          <a:bodyPr wrap="square" anchor="t" lIns="36576" rIns="36576" tIns="18288" bIns="18288">
            <a:spAutoFit/>
          </a:bodyPr>
          <a:lstStyle/>
          <a:p>
            <a:pPr algn="ctr">
              <a:lnSpc>
                <a:spcPct val="100000"/>
              </a:lnSpc>
              <a:spcAft>
                <a:spcPts val="300"/>
              </a:spcAft>
            </a:pPr>
            <a:r>
              <a:rPr sz="1700" b="0" spc="-30">
                <a:solidFill>
                  <a:srgbClr val="5A5B48"/>
                </a:solidFill>
                <a:latin typeface="Times New Roman"/>
              </a:rPr>
              <a:t>LE TEST LIT NOS FICHIERS SOURCE : LE MODÈLE N'IMPORTE NI SWING NI LA VUE, LA VUE NE MODIFIE PAS LE MODÈLE, LE CONTRÔLEUR NE CONSTRUIT AUCUN COMPOSANT</a:t>
            </a:r>
          </a:p>
          <a:p>
            <a:pPr algn="ctr">
              <a:lnSpc>
                <a:spcPct val="100000"/>
              </a:lnSpc>
              <a:spcAft>
                <a:spcPts val="300"/>
              </a:spcAft>
            </a:pPr>
            <a:r>
              <a:rPr sz="1700" b="0" spc="-30">
                <a:solidFill>
                  <a:srgbClr val="5A5B48"/>
                </a:solidFill>
                <a:latin typeface="Times New Roman"/>
              </a:rPr>
              <a:t>LES SCÉNARIOS DE CLICS DU TP6 PASSENT TOUJOURS : LE COMPORTEMENT N'A PAS CHANGÉ</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ond_creme.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365760" y="109728"/>
            <a:ext cx="11430000" cy="868680"/>
          </a:xfrm>
          <a:prstGeom prst="rect">
            <a:avLst/>
          </a:prstGeom>
          <a:noFill/>
        </p:spPr>
        <p:txBody>
          <a:bodyPr wrap="square" anchor="ctr" lIns="36576" rIns="36576" tIns="18288" bIns="18288">
            <a:spAutoFit/>
          </a:bodyPr>
          <a:lstStyle/>
          <a:p>
            <a:pPr algn="ctr">
              <a:lnSpc>
                <a:spcPct val="100000"/>
              </a:lnSpc>
              <a:spcAft>
                <a:spcPts val="600"/>
              </a:spcAft>
            </a:pPr>
            <a:r>
              <a:rPr sz="3600" b="0" spc="-30">
                <a:solidFill>
                  <a:srgbClr val="5A5B48"/>
                </a:solidFill>
                <a:latin typeface="Times New Roman"/>
              </a:rPr>
              <a:t>BILAN, SOURCES ET USAGE DE L'IA</a:t>
            </a:r>
          </a:p>
        </p:txBody>
      </p:sp>
      <p:sp>
        <p:nvSpPr>
          <p:cNvPr id="4" name="TextBox 3"/>
          <p:cNvSpPr txBox="1"/>
          <p:nvPr/>
        </p:nvSpPr>
        <p:spPr>
          <a:xfrm>
            <a:off x="10332720" y="6291072"/>
            <a:ext cx="1600200" cy="457200"/>
          </a:xfrm>
          <a:prstGeom prst="rect">
            <a:avLst/>
          </a:prstGeom>
          <a:noFill/>
        </p:spPr>
        <p:txBody>
          <a:bodyPr wrap="square" anchor="t" lIns="36576" rIns="36576" tIns="18288" bIns="18288">
            <a:spAutoFit/>
          </a:bodyPr>
          <a:lstStyle/>
          <a:p>
            <a:pPr algn="r">
              <a:lnSpc>
                <a:spcPct val="100000"/>
              </a:lnSpc>
              <a:spcAft>
                <a:spcPts val="600"/>
              </a:spcAft>
            </a:pPr>
            <a:r>
              <a:rPr sz="2400" b="0" spc="-30">
                <a:solidFill>
                  <a:srgbClr val="5A5B48"/>
                </a:solidFill>
                <a:latin typeface="Times New Roman"/>
              </a:rPr>
              <a:t>10/10</a:t>
            </a:r>
          </a:p>
        </p:txBody>
      </p:sp>
      <p:sp>
        <p:nvSpPr>
          <p:cNvPr id="5" name="TextBox 4"/>
          <p:cNvSpPr txBox="1"/>
          <p:nvPr/>
        </p:nvSpPr>
        <p:spPr>
          <a:xfrm>
            <a:off x="365760" y="1051560"/>
            <a:ext cx="5669280" cy="548640"/>
          </a:xfrm>
          <a:prstGeom prst="rect">
            <a:avLst/>
          </a:prstGeom>
          <a:noFill/>
        </p:spPr>
        <p:txBody>
          <a:bodyPr wrap="square" anchor="t" lIns="36576" rIns="36576" tIns="18288" bIns="18288">
            <a:spAutoFit/>
          </a:bodyPr>
          <a:lstStyle/>
          <a:p>
            <a:pPr algn="l">
              <a:lnSpc>
                <a:spcPct val="100000"/>
              </a:lnSpc>
              <a:spcAft>
                <a:spcPts val="600"/>
              </a:spcAft>
            </a:pPr>
            <a:r>
              <a:rPr sz="3000" b="0" spc="-30">
                <a:solidFill>
                  <a:srgbClr val="5A5B48"/>
                </a:solidFill>
                <a:latin typeface="Times New Roman"/>
              </a:rPr>
              <a:t>BILAN</a:t>
            </a:r>
          </a:p>
        </p:txBody>
      </p:sp>
      <p:sp>
        <p:nvSpPr>
          <p:cNvPr id="6" name="TextBox 5"/>
          <p:cNvSpPr txBox="1"/>
          <p:nvPr/>
        </p:nvSpPr>
        <p:spPr>
          <a:xfrm>
            <a:off x="365760" y="1645920"/>
            <a:ext cx="5669280" cy="4572000"/>
          </a:xfrm>
          <a:prstGeom prst="rect">
            <a:avLst/>
          </a:prstGeom>
          <a:noFill/>
        </p:spPr>
        <p:txBody>
          <a:bodyPr wrap="square" anchor="t" lIns="36576" rIns="36576" tIns="18288" bIns="18288">
            <a:spAutoFit/>
          </a:bodyPr>
          <a:lstStyle/>
          <a:p>
            <a:pPr algn="l">
              <a:lnSpc>
                <a:spcPct val="100000"/>
              </a:lnSpc>
              <a:spcAft>
                <a:spcPts val="900"/>
              </a:spcAft>
            </a:pPr>
            <a:r>
              <a:rPr sz="1700" b="0" spc="-30">
                <a:solidFill>
                  <a:srgbClr val="5A5B48"/>
                </a:solidFill>
                <a:latin typeface="Times New Roman"/>
              </a:rPr>
              <a:t>• FAIT : MODÈLE, VUE ET CONTRÔLEURS SÉPARÉS EN 3 PACKAGES, OBSERVER, NAVIGATION CENTRALISÉE</a:t>
            </a:r>
          </a:p>
          <a:p>
            <a:pPr algn="l">
              <a:lnSpc>
                <a:spcPct val="100000"/>
              </a:lnSpc>
              <a:spcAft>
                <a:spcPts val="900"/>
              </a:spcAft>
            </a:pPr>
            <a:r>
              <a:rPr sz="1700" b="0" spc="-30">
                <a:solidFill>
                  <a:srgbClr val="5A5B48"/>
                </a:solidFill>
                <a:latin typeface="Times New Roman"/>
              </a:rPr>
              <a:t>• VÉRIFIÉ : </a:t>
            </a:r>
            <a:r>
              <a:rPr sz="1700" b="0" spc="-30">
                <a:solidFill>
                  <a:srgbClr val="5A5B48"/>
                </a:solidFill>
                <a:latin typeface="Times New Roman"/>
              </a:rPr>
              <a:t>TestsTP7</a:t>
            </a:r>
            <a:r>
              <a:rPr sz="1700" b="0" spc="-30">
                <a:solidFill>
                  <a:srgbClr val="5A5B48"/>
                </a:solidFill>
                <a:latin typeface="Times New Roman"/>
              </a:rPr>
              <a:t>, 273 VÉRIFICATIONS, DONT LE CONTRÔLE DES IMPORTS</a:t>
            </a:r>
          </a:p>
          <a:p>
            <a:pPr algn="l">
              <a:lnSpc>
                <a:spcPct val="100000"/>
              </a:lnSpc>
              <a:spcAft>
                <a:spcPts val="900"/>
              </a:spcAft>
            </a:pPr>
            <a:r>
              <a:rPr sz="1700" b="0" spc="-30">
                <a:solidFill>
                  <a:srgbClr val="5A5B48"/>
                </a:solidFill>
                <a:latin typeface="Times New Roman"/>
              </a:rPr>
              <a:t>• APPRIS : QUI DÉCIDE, QUI AFFICHE, QUI RETIENT LES RÈGLES ; OBSERVER</a:t>
            </a:r>
          </a:p>
          <a:p>
            <a:pPr algn="l">
              <a:lnSpc>
                <a:spcPct val="100000"/>
              </a:lnSpc>
              <a:spcAft>
                <a:spcPts val="900"/>
              </a:spcAft>
            </a:pPr>
            <a:r>
              <a:rPr sz="1700" b="0" spc="-30">
                <a:solidFill>
                  <a:srgbClr val="5A5B48"/>
                </a:solidFill>
                <a:latin typeface="Times New Roman"/>
              </a:rPr>
              <a:t>• LIMITES : LE MODÈLE GARDE DES </a:t>
            </a:r>
            <a:r>
              <a:rPr sz="1700" b="0" spc="-30">
                <a:solidFill>
                  <a:srgbClr val="5A5B48"/>
                </a:solidFill>
                <a:latin typeface="Times New Roman"/>
              </a:rPr>
              <a:t>println</a:t>
            </a:r>
            <a:r>
              <a:rPr sz="1700" b="0" spc="-30">
                <a:solidFill>
                  <a:srgbClr val="5A5B48"/>
                </a:solidFill>
                <a:latin typeface="Times New Roman"/>
              </a:rPr>
              <a:t> DES TP3 ; IL PRÉVIENT LES VUES SANS DIRE CE QUI A CHANGÉ ; </a:t>
            </a:r>
            <a:r>
              <a:rPr sz="1700" b="0" spc="-30">
                <a:solidFill>
                  <a:srgbClr val="5A5B48"/>
                </a:solidFill>
                <a:latin typeface="Times New Roman"/>
              </a:rPr>
              <a:t>Style</a:t>
            </a:r>
            <a:r>
              <a:rPr sz="1700" b="0" spc="-30">
                <a:solidFill>
                  <a:srgbClr val="5A5B48"/>
                </a:solidFill>
                <a:latin typeface="Times New Roman"/>
              </a:rPr>
              <a:t> ATTRAPE </a:t>
            </a:r>
            <a:r>
              <a:rPr sz="1700" b="0" spc="-30">
                <a:solidFill>
                  <a:srgbClr val="5A5B48"/>
                </a:solidFill>
                <a:latin typeface="Times New Roman"/>
              </a:rPr>
              <a:t>AucuneNoteException</a:t>
            </a:r>
            <a:r>
              <a:rPr sz="1700" b="0" spc="-30">
                <a:solidFill>
                  <a:srgbClr val="5A5B48"/>
                </a:solidFill>
                <a:latin typeface="Times New Roman"/>
              </a:rPr>
              <a:t> POUR AFFICHER « NOUVEAU »</a:t>
            </a:r>
          </a:p>
          <a:p>
            <a:pPr algn="l">
              <a:lnSpc>
                <a:spcPct val="100000"/>
              </a:lnSpc>
              <a:spcAft>
                <a:spcPts val="900"/>
              </a:spcAft>
            </a:pPr>
            <a:r>
              <a:rPr sz="1700" b="0" spc="-30">
                <a:solidFill>
                  <a:srgbClr val="5A5B48"/>
                </a:solidFill>
                <a:latin typeface="Times New Roman"/>
              </a:rPr>
              <a:t>• AMÉLIORATIONS : RETIRER LES </a:t>
            </a:r>
            <a:r>
              <a:rPr sz="1700" b="0" spc="-30">
                <a:solidFill>
                  <a:srgbClr val="5A5B48"/>
                </a:solidFill>
                <a:latin typeface="Times New Roman"/>
              </a:rPr>
              <a:t>println</a:t>
            </a:r>
            <a:r>
              <a:rPr sz="1700" b="0" spc="-30">
                <a:solidFill>
                  <a:srgbClr val="5A5B48"/>
                </a:solidFill>
                <a:latin typeface="Times New Roman"/>
              </a:rPr>
              <a:t> DU MODÈLE, ÉVÉNEMENTS PLUS PRÉCIS, TESTS DU MODÈLE SANS FENÊTRE</a:t>
            </a:r>
          </a:p>
        </p:txBody>
      </p:sp>
      <p:sp>
        <p:nvSpPr>
          <p:cNvPr id="7" name="TextBox 6"/>
          <p:cNvSpPr txBox="1"/>
          <p:nvPr/>
        </p:nvSpPr>
        <p:spPr>
          <a:xfrm>
            <a:off x="6263640" y="1051560"/>
            <a:ext cx="5669280" cy="548640"/>
          </a:xfrm>
          <a:prstGeom prst="rect">
            <a:avLst/>
          </a:prstGeom>
          <a:noFill/>
        </p:spPr>
        <p:txBody>
          <a:bodyPr wrap="square" anchor="t" lIns="36576" rIns="36576" tIns="18288" bIns="18288">
            <a:spAutoFit/>
          </a:bodyPr>
          <a:lstStyle/>
          <a:p>
            <a:pPr algn="ctr">
              <a:lnSpc>
                <a:spcPct val="100000"/>
              </a:lnSpc>
              <a:spcAft>
                <a:spcPts val="600"/>
              </a:spcAft>
            </a:pPr>
            <a:r>
              <a:rPr sz="3000" b="0" spc="-30">
                <a:solidFill>
                  <a:srgbClr val="5A5B48"/>
                </a:solidFill>
                <a:latin typeface="Times New Roman"/>
              </a:rPr>
              <a:t>SOURCES ET IA</a:t>
            </a:r>
          </a:p>
        </p:txBody>
      </p:sp>
      <p:sp>
        <p:nvSpPr>
          <p:cNvPr id="8" name="TextBox 7"/>
          <p:cNvSpPr txBox="1"/>
          <p:nvPr/>
        </p:nvSpPr>
        <p:spPr>
          <a:xfrm>
            <a:off x="6263640" y="1783080"/>
            <a:ext cx="2514600" cy="731520"/>
          </a:xfrm>
          <a:prstGeom prst="rect">
            <a:avLst/>
          </a:prstGeom>
          <a:noFill/>
        </p:spPr>
        <p:txBody>
          <a:bodyPr wrap="square" anchor="ctr" lIns="36576" rIns="36576" tIns="18288" bIns="18288">
            <a:spAutoFit/>
          </a:bodyPr>
          <a:lstStyle/>
          <a:p>
            <a:pPr algn="l">
              <a:lnSpc>
                <a:spcPct val="100000"/>
              </a:lnSpc>
              <a:spcAft>
                <a:spcPts val="600"/>
              </a:spcAft>
            </a:pPr>
            <a:r>
              <a:rPr sz="1800" b="0" spc="-30">
                <a:solidFill>
                  <a:srgbClr val="5A5B48"/>
                </a:solidFill>
                <a:latin typeface="Times New Roman"/>
              </a:rPr>
              <a:t>COURS DE M. SEGADO</a:t>
            </a:r>
          </a:p>
        </p:txBody>
      </p:sp>
      <p:cxnSp>
        <p:nvCxnSpPr>
          <p:cNvPr id="9" name="Connector 8"/>
          <p:cNvCxnSpPr/>
          <p:nvPr/>
        </p:nvCxnSpPr>
        <p:spPr>
          <a:xfrm>
            <a:off x="8732520" y="2148840"/>
            <a:ext cx="548640" cy="0"/>
          </a:xfrm>
          <a:prstGeom prst="line">
            <a:avLst/>
          </a:prstGeom>
          <a:ln w="20320">
            <a:solidFill>
              <a:srgbClr val="1A1A1A"/>
            </a:solidFill>
            <a:tailEnd type="arrow" w="lg" len="lg"/>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9326880" y="1783080"/>
            <a:ext cx="2697480" cy="731520"/>
          </a:xfrm>
          <a:prstGeom prst="rect">
            <a:avLst/>
          </a:prstGeom>
          <a:noFill/>
        </p:spPr>
        <p:txBody>
          <a:bodyPr wrap="square" anchor="ctr" lIns="36576" rIns="36576" tIns="18288" bIns="18288">
            <a:spAutoFit/>
          </a:bodyPr>
          <a:lstStyle/>
          <a:p>
            <a:pPr algn="ctr">
              <a:lnSpc>
                <a:spcPct val="100000"/>
              </a:lnSpc>
              <a:spcAft>
                <a:spcPts val="600"/>
              </a:spcAft>
            </a:pPr>
            <a:r>
              <a:rPr sz="1500" b="0" spc="-30">
                <a:solidFill>
                  <a:srgbClr val="5A5B48"/>
                </a:solidFill>
                <a:latin typeface="Times New Roman"/>
              </a:rPr>
              <a:t>TP7 ET COURS 4 À 6 : INTERFACES, SWING</a:t>
            </a:r>
          </a:p>
        </p:txBody>
      </p:sp>
      <p:sp>
        <p:nvSpPr>
          <p:cNvPr id="11" name="TextBox 10"/>
          <p:cNvSpPr txBox="1"/>
          <p:nvPr/>
        </p:nvSpPr>
        <p:spPr>
          <a:xfrm>
            <a:off x="6263640" y="2624328"/>
            <a:ext cx="2514600" cy="731520"/>
          </a:xfrm>
          <a:prstGeom prst="rect">
            <a:avLst/>
          </a:prstGeom>
          <a:noFill/>
        </p:spPr>
        <p:txBody>
          <a:bodyPr wrap="square" anchor="ctr" lIns="36576" rIns="36576" tIns="18288" bIns="18288">
            <a:spAutoFit/>
          </a:bodyPr>
          <a:lstStyle/>
          <a:p>
            <a:pPr algn="l">
              <a:lnSpc>
                <a:spcPct val="100000"/>
              </a:lnSpc>
              <a:spcAft>
                <a:spcPts val="600"/>
              </a:spcAft>
            </a:pPr>
            <a:r>
              <a:rPr sz="1800" b="0" spc="-30">
                <a:solidFill>
                  <a:srgbClr val="5A5B48"/>
                </a:solidFill>
                <a:latin typeface="Times New Roman"/>
              </a:rPr>
              <a:t>OPENCLASSROOMS, WIKIPÉDIA</a:t>
            </a:r>
          </a:p>
        </p:txBody>
      </p:sp>
      <p:cxnSp>
        <p:nvCxnSpPr>
          <p:cNvPr id="12" name="Connector 11"/>
          <p:cNvCxnSpPr/>
          <p:nvPr/>
        </p:nvCxnSpPr>
        <p:spPr>
          <a:xfrm>
            <a:off x="8732520" y="2990088"/>
            <a:ext cx="548640" cy="0"/>
          </a:xfrm>
          <a:prstGeom prst="line">
            <a:avLst/>
          </a:prstGeom>
          <a:ln w="20320">
            <a:solidFill>
              <a:srgbClr val="1A1A1A"/>
            </a:solidFill>
            <a:tailEnd type="arrow" w="lg" len="lg"/>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9326880" y="2624328"/>
            <a:ext cx="2697480" cy="731520"/>
          </a:xfrm>
          <a:prstGeom prst="rect">
            <a:avLst/>
          </a:prstGeom>
          <a:noFill/>
        </p:spPr>
        <p:txBody>
          <a:bodyPr wrap="square" anchor="ctr" lIns="36576" rIns="36576" tIns="18288" bIns="18288">
            <a:spAutoFit/>
          </a:bodyPr>
          <a:lstStyle/>
          <a:p>
            <a:pPr algn="ctr">
              <a:lnSpc>
                <a:spcPct val="100000"/>
              </a:lnSpc>
              <a:spcAft>
                <a:spcPts val="600"/>
              </a:spcAft>
            </a:pPr>
            <a:r>
              <a:rPr sz="1500" b="0" spc="-30">
                <a:solidFill>
                  <a:srgbClr val="5A5B48"/>
                </a:solidFill>
                <a:latin typeface="Times New Roman"/>
              </a:rPr>
              <a:t>LE PATTERN MVC</a:t>
            </a:r>
          </a:p>
        </p:txBody>
      </p:sp>
      <p:sp>
        <p:nvSpPr>
          <p:cNvPr id="14" name="TextBox 13"/>
          <p:cNvSpPr txBox="1"/>
          <p:nvPr/>
        </p:nvSpPr>
        <p:spPr>
          <a:xfrm>
            <a:off x="6263640" y="3465576"/>
            <a:ext cx="2514600" cy="731520"/>
          </a:xfrm>
          <a:prstGeom prst="rect">
            <a:avLst/>
          </a:prstGeom>
          <a:noFill/>
        </p:spPr>
        <p:txBody>
          <a:bodyPr wrap="square" anchor="ctr" lIns="36576" rIns="36576" tIns="18288" bIns="18288">
            <a:spAutoFit/>
          </a:bodyPr>
          <a:lstStyle/>
          <a:p>
            <a:pPr algn="l">
              <a:lnSpc>
                <a:spcPct val="100000"/>
              </a:lnSpc>
              <a:spcAft>
                <a:spcPts val="600"/>
              </a:spcAft>
            </a:pPr>
            <a:r>
              <a:rPr sz="1800" b="0" spc="-30">
                <a:solidFill>
                  <a:srgbClr val="5A5B48"/>
                </a:solidFill>
                <a:latin typeface="Times New Roman"/>
              </a:rPr>
              <a:t>CLAUDE IA</a:t>
            </a:r>
          </a:p>
        </p:txBody>
      </p:sp>
      <p:cxnSp>
        <p:nvCxnSpPr>
          <p:cNvPr id="15" name="Connector 14"/>
          <p:cNvCxnSpPr/>
          <p:nvPr/>
        </p:nvCxnSpPr>
        <p:spPr>
          <a:xfrm>
            <a:off x="8732520" y="3831336"/>
            <a:ext cx="548640" cy="0"/>
          </a:xfrm>
          <a:prstGeom prst="line">
            <a:avLst/>
          </a:prstGeom>
          <a:ln w="20320">
            <a:solidFill>
              <a:srgbClr val="1A1A1A"/>
            </a:solidFill>
            <a:tailEnd type="arrow" w="lg" len="lg"/>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9326880" y="3465576"/>
            <a:ext cx="2697480" cy="731520"/>
          </a:xfrm>
          <a:prstGeom prst="rect">
            <a:avLst/>
          </a:prstGeom>
          <a:noFill/>
        </p:spPr>
        <p:txBody>
          <a:bodyPr wrap="square" anchor="ctr" lIns="36576" rIns="36576" tIns="18288" bIns="18288">
            <a:spAutoFit/>
          </a:bodyPr>
          <a:lstStyle/>
          <a:p>
            <a:pPr algn="ctr">
              <a:lnSpc>
                <a:spcPct val="100000"/>
              </a:lnSpc>
              <a:spcAft>
                <a:spcPts val="600"/>
              </a:spcAft>
            </a:pPr>
            <a:r>
              <a:rPr sz="1500" b="0" spc="-30">
                <a:solidFill>
                  <a:srgbClr val="5A5B48"/>
                </a:solidFill>
                <a:latin typeface="Times New Roman"/>
              </a:rPr>
              <a:t>REFONTE DU CODE, TESTS, RAPPORT</a:t>
            </a:r>
          </a:p>
        </p:txBody>
      </p:sp>
      <p:sp>
        <p:nvSpPr>
          <p:cNvPr id="17" name="TextBox 16"/>
          <p:cNvSpPr txBox="1"/>
          <p:nvPr/>
        </p:nvSpPr>
        <p:spPr>
          <a:xfrm>
            <a:off x="6263640" y="4306824"/>
            <a:ext cx="2514600" cy="731520"/>
          </a:xfrm>
          <a:prstGeom prst="rect">
            <a:avLst/>
          </a:prstGeom>
          <a:noFill/>
        </p:spPr>
        <p:txBody>
          <a:bodyPr wrap="square" anchor="ctr" lIns="36576" rIns="36576" tIns="18288" bIns="18288">
            <a:spAutoFit/>
          </a:bodyPr>
          <a:lstStyle/>
          <a:p>
            <a:pPr algn="l">
              <a:lnSpc>
                <a:spcPct val="100000"/>
              </a:lnSpc>
              <a:spcAft>
                <a:spcPts val="600"/>
              </a:spcAft>
            </a:pPr>
            <a:r>
              <a:rPr sz="1800" b="0" spc="-30">
                <a:solidFill>
                  <a:srgbClr val="5A5B48"/>
                </a:solidFill>
                <a:latin typeface="Times New Roman"/>
              </a:rPr>
              <a:t>INTELLIJ</a:t>
            </a:r>
          </a:p>
        </p:txBody>
      </p:sp>
      <p:cxnSp>
        <p:nvCxnSpPr>
          <p:cNvPr id="18" name="Connector 17"/>
          <p:cNvCxnSpPr/>
          <p:nvPr/>
        </p:nvCxnSpPr>
        <p:spPr>
          <a:xfrm>
            <a:off x="8732520" y="4672584"/>
            <a:ext cx="548640" cy="0"/>
          </a:xfrm>
          <a:prstGeom prst="line">
            <a:avLst/>
          </a:prstGeom>
          <a:ln w="20320">
            <a:solidFill>
              <a:srgbClr val="1A1A1A"/>
            </a:solidFill>
            <a:tailEnd type="arrow" w="lg" len="lg"/>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9326880" y="4306824"/>
            <a:ext cx="2697480" cy="731520"/>
          </a:xfrm>
          <a:prstGeom prst="rect">
            <a:avLst/>
          </a:prstGeom>
          <a:noFill/>
        </p:spPr>
        <p:txBody>
          <a:bodyPr wrap="square" anchor="ctr" lIns="36576" rIns="36576" tIns="18288" bIns="18288">
            <a:spAutoFit/>
          </a:bodyPr>
          <a:lstStyle/>
          <a:p>
            <a:pPr algn="ctr">
              <a:lnSpc>
                <a:spcPct val="100000"/>
              </a:lnSpc>
              <a:spcAft>
                <a:spcPts val="600"/>
              </a:spcAft>
            </a:pPr>
            <a:r>
              <a:rPr sz="1500" b="0" spc="-30">
                <a:solidFill>
                  <a:srgbClr val="5A5B48"/>
                </a:solidFill>
                <a:latin typeface="Times New Roman"/>
              </a:rPr>
              <a:t>COMPILATION ET EXÉCUTION</a:t>
            </a:r>
          </a:p>
        </p:txBody>
      </p:sp>
      <p:sp>
        <p:nvSpPr>
          <p:cNvPr id="20" name="TextBox 19"/>
          <p:cNvSpPr txBox="1"/>
          <p:nvPr/>
        </p:nvSpPr>
        <p:spPr>
          <a:xfrm>
            <a:off x="6263640" y="5212080"/>
            <a:ext cx="5669280" cy="1005840"/>
          </a:xfrm>
          <a:prstGeom prst="rect">
            <a:avLst/>
          </a:prstGeom>
          <a:noFill/>
        </p:spPr>
        <p:txBody>
          <a:bodyPr wrap="square" anchor="t" lIns="36576" rIns="36576" tIns="18288" bIns="18288">
            <a:spAutoFit/>
          </a:bodyPr>
          <a:lstStyle/>
          <a:p>
            <a:pPr algn="ctr">
              <a:lnSpc>
                <a:spcPct val="100000"/>
              </a:lnSpc>
              <a:spcAft>
                <a:spcPts val="300"/>
              </a:spcAft>
            </a:pPr>
            <a:r>
              <a:rPr sz="1500" b="0" spc="-30">
                <a:solidFill>
                  <a:srgbClr val="5A5B48"/>
                </a:solidFill>
                <a:latin typeface="Times New Roman"/>
              </a:rPr>
              <a:t>PART D'AIDE DE L'IA : [ XX % ] (À COMPLÉTER)</a:t>
            </a:r>
          </a:p>
          <a:p>
            <a:pPr algn="ctr">
              <a:lnSpc>
                <a:spcPct val="100000"/>
              </a:lnSpc>
              <a:spcAft>
                <a:spcPts val="300"/>
              </a:spcAft>
            </a:pPr>
            <a:r>
              <a:rPr sz="1500" b="0" spc="-30">
                <a:solidFill>
                  <a:srgbClr val="5A5B48"/>
                </a:solidFill>
                <a:latin typeface="Times New Roman"/>
              </a:rPr>
              <a:t>PROMPT : « FAIS LE TP7 (PATTERN MVC) À PARTIR DU TP6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